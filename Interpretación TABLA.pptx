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318" r:id="rId2"/>
    <p:sldId id="327" r:id="rId3"/>
    <p:sldId id="331" r:id="rId4"/>
    <p:sldId id="326" r:id="rId5"/>
    <p:sldId id="328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13"/>
    <p:restoredTop sz="94534"/>
  </p:normalViewPr>
  <p:slideViewPr>
    <p:cSldViewPr snapToGrid="0">
      <p:cViewPr>
        <p:scale>
          <a:sx n="111" d="100"/>
          <a:sy n="111" d="100"/>
        </p:scale>
        <p:origin x="28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C2036-D7B2-C94E-8620-29D586BB552E}" type="datetimeFigureOut">
              <a:rPr lang="es-ES" smtClean="0"/>
              <a:t>24/3/26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98DB4-B4BC-FF4D-AF79-2203998983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2692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“Describe las </a:t>
            </a:r>
            <a:r>
              <a:rPr lang="es-ES" b="1" dirty="0"/>
              <a:t>condiciones funcionales</a:t>
            </a:r>
            <a:r>
              <a:rPr lang="es-ES" dirty="0"/>
              <a:t> (trayectoria, distancia, ubicación, orientación, ritmo y relación) que </a:t>
            </a:r>
            <a:r>
              <a:rPr lang="es-ES" b="1" dirty="0"/>
              <a:t>permiten</a:t>
            </a:r>
            <a:r>
              <a:rPr lang="es-ES" dirty="0"/>
              <a:t> que la conducta se realice de forma efectiva, estable y repetible en juego. Sirve para </a:t>
            </a:r>
            <a:r>
              <a:rPr lang="es-ES" b="1" dirty="0"/>
              <a:t>guiar la ejecución</a:t>
            </a:r>
            <a:r>
              <a:rPr lang="es-ES" dirty="0"/>
              <a:t>, </a:t>
            </a:r>
            <a:r>
              <a:rPr lang="es-ES" b="1" dirty="0"/>
              <a:t>diagnosticar por qué falla</a:t>
            </a:r>
            <a:r>
              <a:rPr lang="es-ES" dirty="0"/>
              <a:t> y </a:t>
            </a:r>
            <a:r>
              <a:rPr lang="es-ES" b="1" dirty="0"/>
              <a:t>alinear el diseño de tarea</a:t>
            </a:r>
            <a:r>
              <a:rPr lang="es-ES" dirty="0"/>
              <a:t> con la realidad del juego.”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98DB4-B4BC-FF4D-AF79-220399898398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2601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Lo valioso (2 reglas de oro)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Tu prioridad es </a:t>
            </a:r>
            <a:r>
              <a:rPr lang="es-ES" b="1" dirty="0"/>
              <a:t>profundidad y área</a:t>
            </a:r>
            <a:r>
              <a:rPr lang="es-ES" dirty="0"/>
              <a:t>: que no haya ruptura limpia ni remate claro.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Vigilancia activa</a:t>
            </a:r>
            <a:r>
              <a:rPr lang="es-ES" dirty="0"/>
              <a:t>: ver balón y hombre; si </a:t>
            </a:r>
            <a:r>
              <a:rPr lang="es-ES" dirty="0" err="1"/>
              <a:t>mirás</a:t>
            </a:r>
            <a:r>
              <a:rPr lang="es-ES" dirty="0"/>
              <a:t> solo balón, </a:t>
            </a:r>
            <a:r>
              <a:rPr lang="es-ES" dirty="0" err="1"/>
              <a:t>perdés</a:t>
            </a:r>
            <a:r>
              <a:rPr lang="es-ES" dirty="0"/>
              <a:t> segundo palo.</a:t>
            </a:r>
          </a:p>
          <a:p>
            <a:r>
              <a:rPr lang="es-ES" b="1" dirty="0" err="1"/>
              <a:t>KPIs</a:t>
            </a:r>
            <a:r>
              <a:rPr lang="es-ES" b="1" dirty="0"/>
              <a:t> mínimos (4)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Rupturas a espalda</a:t>
            </a:r>
            <a:r>
              <a:rPr lang="es-ES" dirty="0"/>
              <a:t> concedidas (0 es el objetivo)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Remates en área</a:t>
            </a:r>
            <a:r>
              <a:rPr lang="es-ES" dirty="0"/>
              <a:t> concedidos (especialmente zona central/2º palo)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% centros defendidos con éxito (bloqueo/despeje útil)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Llegadas del opuesto sin marca</a:t>
            </a:r>
            <a:r>
              <a:rPr lang="es-ES" dirty="0"/>
              <a:t> (lado débil)</a:t>
            </a:r>
          </a:p>
          <a:p>
            <a:r>
              <a:rPr lang="es-ES" b="1" dirty="0"/>
              <a:t>3 tareas donde emerge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b="1" dirty="0"/>
              <a:t>Centros + 2ª jugada</a:t>
            </a:r>
            <a:r>
              <a:rPr lang="es-ES" dirty="0"/>
              <a:t> (3 oleadas): central debe gestionar 1º palo/2º palo/penalti.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SSG con bandas</a:t>
            </a:r>
            <a:r>
              <a:rPr lang="es-ES" dirty="0"/>
              <a:t>: cada ataque debe terminar en centro o pase atrás → obliga a defender área y vigilancias.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Juego de profundidad</a:t>
            </a:r>
            <a:r>
              <a:rPr lang="es-ES" dirty="0"/>
              <a:t>: balón descubierto = permiso de ruptura; central debe ajustar línea + coordinación con GK.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98DB4-B4BC-FF4D-AF79-220399898398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8977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T = Trayectorias</a:t>
            </a:r>
            <a:r>
              <a:rPr lang="es-ES" dirty="0"/>
              <a:t> (jugador / balón / rival)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 = Distancias</a:t>
            </a:r>
            <a:r>
              <a:rPr lang="es-ES" dirty="0"/>
              <a:t> (respecto a quién / a qué)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U = Ubicaciones</a:t>
            </a:r>
            <a:r>
              <a:rPr lang="es-ES" dirty="0"/>
              <a:t> (zona + carril + referencia funcional)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 = Orientación</a:t>
            </a:r>
            <a:r>
              <a:rPr lang="es-ES" dirty="0"/>
              <a:t> (cuerpo + mirada + balón/portería/hombre)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 = Ritmos</a:t>
            </a:r>
            <a:r>
              <a:rPr lang="es-ES" dirty="0"/>
              <a:t> (pausa activa, </a:t>
            </a:r>
            <a:r>
              <a:rPr lang="es-ES" dirty="0" err="1"/>
              <a:t>microajustes</a:t>
            </a:r>
            <a:r>
              <a:rPr lang="es-ES" dirty="0"/>
              <a:t>, aceleración,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Rel</a:t>
            </a:r>
            <a:r>
              <a:rPr lang="es-ES" b="1" dirty="0"/>
              <a:t> = Relaciones</a:t>
            </a:r>
            <a:r>
              <a:rPr lang="es-ES" dirty="0"/>
              <a:t> (balón–rival–compañero–portería–intervalo / línea de pase)</a:t>
            </a:r>
          </a:p>
          <a:p>
            <a:r>
              <a:rPr lang="es-ES" dirty="0"/>
              <a:t>Y sí: </a:t>
            </a:r>
            <a:r>
              <a:rPr lang="es-ES" b="1" dirty="0"/>
              <a:t>en mi versión faltaba “Ritmos”</a:t>
            </a:r>
            <a:r>
              <a:rPr lang="es-ES" dirty="0"/>
              <a:t> como categoría explícita.</a:t>
            </a:r>
          </a:p>
          <a:p>
            <a:r>
              <a:rPr lang="es-ES" b="1" dirty="0"/>
              <a:t>Regla “Levante” para que no haya dudas</a:t>
            </a:r>
          </a:p>
          <a:p>
            <a:r>
              <a:rPr lang="es-ES" dirty="0"/>
              <a:t>En cada conducta </a:t>
            </a:r>
            <a:r>
              <a:rPr lang="es-ES" b="1" dirty="0"/>
              <a:t>NO tienen que salir todas</a:t>
            </a:r>
            <a:r>
              <a:rPr lang="es-ES" dirty="0"/>
              <a:t> (T, D, U, O, R, </a:t>
            </a:r>
            <a:r>
              <a:rPr lang="es-ES" dirty="0" err="1"/>
              <a:t>Rel</a:t>
            </a:r>
            <a:r>
              <a:rPr lang="es-ES" dirty="0"/>
              <a:t>).</a:t>
            </a:r>
            <a:br>
              <a:rPr lang="es-ES" dirty="0"/>
            </a:br>
            <a:r>
              <a:rPr lang="es-ES" dirty="0"/>
              <a:t>Solo las </a:t>
            </a:r>
            <a:r>
              <a:rPr lang="es-ES" b="1" dirty="0"/>
              <a:t>significativas</a:t>
            </a:r>
            <a:r>
              <a:rPr lang="es-ES" dirty="0"/>
              <a:t> para entender </a:t>
            </a:r>
            <a:r>
              <a:rPr lang="es-ES" b="1" dirty="0"/>
              <a:t>cómo se prepara y cómo se ejecuta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Pero cuando aparezcan, deben ir </a:t>
            </a:r>
            <a:r>
              <a:rPr lang="es-ES" b="1" dirty="0"/>
              <a:t>referenciadas</a:t>
            </a:r>
            <a:r>
              <a:rPr lang="es-ES" dirty="0"/>
              <a:t> (respecto a quién/qué).</a:t>
            </a:r>
          </a:p>
          <a:p>
            <a:endParaRPr lang="es-ES" b="1" dirty="0"/>
          </a:p>
          <a:p>
            <a:r>
              <a:rPr lang="es-ES" b="1" dirty="0"/>
              <a:t>Siglas definitivas (para toda tabla madre)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 = Distancia</a:t>
            </a:r>
            <a:r>
              <a:rPr lang="es-ES" dirty="0"/>
              <a:t> (¿a quién? rival / balón / compañero / portería / espacio)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T = Trayectoria</a:t>
            </a:r>
            <a:r>
              <a:rPr lang="es-ES" dirty="0"/>
              <a:t> (del </a:t>
            </a:r>
            <a:r>
              <a:rPr lang="es-ES" b="1" dirty="0"/>
              <a:t>jugador / balón / rival</a:t>
            </a:r>
            <a:r>
              <a:rPr lang="es-ES" dirty="0"/>
              <a:t>: diagonal, paralela, curva, corta, larga…)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U = Ubicación</a:t>
            </a:r>
            <a:r>
              <a:rPr lang="es-ES" dirty="0"/>
              <a:t> (zona + carril + referencia: intervalo, espalda, 2º palo, línea de pase…)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 = Orientación</a:t>
            </a:r>
            <a:r>
              <a:rPr lang="es-ES" dirty="0"/>
              <a:t> (cuerpo y/o mirada: balón–portería, balón–hombre, perfil abierto/medio/cerrado)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RT = Ritmos</a:t>
            </a:r>
            <a:r>
              <a:rPr lang="es-ES" dirty="0"/>
              <a:t> (tempo de la acción)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 = Relaciones</a:t>
            </a:r>
            <a:r>
              <a:rPr lang="es-ES" dirty="0"/>
              <a:t> (con quién y para qué: fijar/soltar, tercer hombre, atraer/liberar, cobertura, marcas…)</a:t>
            </a:r>
          </a:p>
          <a:p>
            <a:r>
              <a:rPr lang="es-ES" b="1" dirty="0"/>
              <a:t>RT (Ritmos) — qué debe aparecer (y cómo redactarlo)</a:t>
            </a:r>
          </a:p>
          <a:p>
            <a:r>
              <a:rPr lang="es-ES" b="1" dirty="0"/>
              <a:t>RT es “cómo gestiono el tiempo” para crear ventaja.</a:t>
            </a:r>
            <a:r>
              <a:rPr lang="es-ES" dirty="0"/>
              <a:t> Las piezas más útiles y repetibles: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Aceleración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pausa activa → aceleración corta (1–2 apoyos)</a:t>
            </a:r>
            <a:r>
              <a:rPr lang="es-ES" dirty="0"/>
              <a:t>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acelera al compromiso del rival</a:t>
            </a:r>
            <a:r>
              <a:rPr lang="es-ES" dirty="0"/>
              <a:t> (cuando pisa/entra), no antes”</a:t>
            </a:r>
          </a:p>
          <a:p>
            <a:pPr>
              <a:buFont typeface="+mj-lt"/>
              <a:buAutoNum type="arabicPeriod" startAt="2"/>
            </a:pPr>
            <a:r>
              <a:rPr lang="es-ES" b="1" dirty="0"/>
              <a:t>Ralentización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ralentiza para fijar</a:t>
            </a:r>
            <a:r>
              <a:rPr lang="es-ES" dirty="0"/>
              <a:t> (sin matar el balón)”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ralentiza para atraer</a:t>
            </a:r>
            <a:r>
              <a:rPr lang="es-ES" dirty="0"/>
              <a:t> y habilitar línea de pase”</a:t>
            </a:r>
          </a:p>
          <a:p>
            <a:pPr>
              <a:buFont typeface="+mj-lt"/>
              <a:buAutoNum type="arabicPeriod" startAt="3"/>
            </a:pPr>
            <a:r>
              <a:rPr lang="es-ES" b="1" dirty="0"/>
              <a:t>Pausa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pausa activa</a:t>
            </a:r>
            <a:r>
              <a:rPr lang="es-ES" dirty="0"/>
              <a:t> (no pausa muerta): balón jugable + escaneo”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pausa breve</a:t>
            </a:r>
            <a:r>
              <a:rPr lang="es-ES" dirty="0"/>
              <a:t> (0,5–1 s) para que aparezca la ventana”</a:t>
            </a:r>
          </a:p>
          <a:p>
            <a:pPr>
              <a:buFont typeface="+mj-lt"/>
              <a:buAutoNum type="arabicPeriod" startAt="4"/>
            </a:pPr>
            <a:r>
              <a:rPr lang="es-ES" b="1" dirty="0"/>
              <a:t>Sostener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sostener amenaza</a:t>
            </a:r>
            <a:r>
              <a:rPr lang="es-ES" dirty="0"/>
              <a:t> 1–2 s (sin exponerte) para ordenar/seleccionar”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típico en continuidad o cuando necesitas “ganar tiempo” para un apoyo</a:t>
            </a:r>
          </a:p>
          <a:p>
            <a:pPr>
              <a:buFont typeface="+mj-lt"/>
              <a:buAutoNum type="arabicPeriod" startAt="5"/>
            </a:pPr>
            <a:r>
              <a:rPr lang="es-ES" b="1" dirty="0"/>
              <a:t>Ruptura de ritmo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cambio de ritmo real</a:t>
            </a:r>
            <a:r>
              <a:rPr lang="es-ES" dirty="0"/>
              <a:t>: lento–rápido o rápido–lento para desajustar”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ojo: si no hay </a:t>
            </a:r>
            <a:r>
              <a:rPr lang="es-ES" i="1" dirty="0"/>
              <a:t>amenaza real</a:t>
            </a:r>
            <a:r>
              <a:rPr lang="es-ES" dirty="0"/>
              <a:t>, no es cambio de ritmo, es “gesto vacío”</a:t>
            </a:r>
          </a:p>
          <a:p>
            <a:r>
              <a:rPr lang="es-ES" b="1" dirty="0"/>
              <a:t>Regla de calidad (muy Levante):</a:t>
            </a:r>
            <a:r>
              <a:rPr lang="es-ES" dirty="0"/>
              <a:t> RT siempre describe </a:t>
            </a:r>
            <a:r>
              <a:rPr lang="es-ES" b="1" dirty="0"/>
              <a:t>un patrón temporal funcional</a:t>
            </a:r>
            <a:r>
              <a:rPr lang="es-ES" dirty="0"/>
              <a:t> (“pausa activa → salida”, “ralentiza para fijar”) y, si procede, </a:t>
            </a:r>
            <a:r>
              <a:rPr lang="es-ES" b="1" dirty="0"/>
              <a:t>el disparador</a:t>
            </a:r>
            <a:r>
              <a:rPr lang="es-ES" dirty="0"/>
              <a:t> (“cuando el rival pisa / cuando llega la 2ª oleada / cuando aparece la ventana”).</a:t>
            </a:r>
          </a:p>
          <a:p>
            <a:r>
              <a:rPr lang="es-ES" b="1" dirty="0"/>
              <a:t>R (Relaciones) — para no mezclar con RT</a:t>
            </a:r>
          </a:p>
          <a:p>
            <a:r>
              <a:rPr lang="es-ES" dirty="0"/>
              <a:t>R no es tempo; R es </a:t>
            </a:r>
            <a:r>
              <a:rPr lang="es-ES" b="1" dirty="0"/>
              <a:t>propósito sistémico</a:t>
            </a:r>
            <a:r>
              <a:rPr lang="es-E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fijar para liberar</a:t>
            </a:r>
            <a:r>
              <a:rPr lang="es-ES" dirty="0"/>
              <a:t> al apoyo interior”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atraer al defensor</a:t>
            </a:r>
            <a:r>
              <a:rPr lang="es-ES" dirty="0"/>
              <a:t> del intervalo para filtrar”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conectar continuidad</a:t>
            </a:r>
            <a:r>
              <a:rPr lang="es-ES" dirty="0"/>
              <a:t> (tercer hombre / apoyo de retorno)”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/>
              <a:t>“</a:t>
            </a:r>
            <a:r>
              <a:rPr lang="es-ES" b="1"/>
              <a:t>proteger compañero</a:t>
            </a:r>
            <a:r>
              <a:rPr lang="es-ES"/>
              <a:t> (cobertura / permuta / marca)”</a:t>
            </a:r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r>
              <a:rPr lang="es-ES" b="1" dirty="0"/>
              <a:t>Lo valioso (2 reglas de oro)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Tu prioridad es </a:t>
            </a:r>
            <a:r>
              <a:rPr lang="es-ES" b="1" dirty="0"/>
              <a:t>profundidad y área</a:t>
            </a:r>
            <a:r>
              <a:rPr lang="es-ES" dirty="0"/>
              <a:t>: que no haya ruptura limpia ni remate claro.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Vigilancia activa</a:t>
            </a:r>
            <a:r>
              <a:rPr lang="es-ES" dirty="0"/>
              <a:t>: ver balón y hombre; si </a:t>
            </a:r>
            <a:r>
              <a:rPr lang="es-ES" dirty="0" err="1"/>
              <a:t>mirás</a:t>
            </a:r>
            <a:r>
              <a:rPr lang="es-ES" dirty="0"/>
              <a:t> solo balón, </a:t>
            </a:r>
            <a:r>
              <a:rPr lang="es-ES" dirty="0" err="1"/>
              <a:t>perdés</a:t>
            </a:r>
            <a:r>
              <a:rPr lang="es-ES" dirty="0"/>
              <a:t> segundo palo.</a:t>
            </a:r>
          </a:p>
          <a:p>
            <a:r>
              <a:rPr lang="es-ES" b="1" dirty="0" err="1"/>
              <a:t>KPIs</a:t>
            </a:r>
            <a:r>
              <a:rPr lang="es-ES" b="1" dirty="0"/>
              <a:t> mínimos (4)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Rupturas a espalda</a:t>
            </a:r>
            <a:r>
              <a:rPr lang="es-ES" dirty="0"/>
              <a:t> concedidas (0 es el objetivo)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Remates en área</a:t>
            </a:r>
            <a:r>
              <a:rPr lang="es-ES" dirty="0"/>
              <a:t> concedidos (especialmente zona central/2º palo)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% centros defendidos con éxito (bloqueo/despeje útil)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Llegadas del opuesto sin marca</a:t>
            </a:r>
            <a:r>
              <a:rPr lang="es-ES" dirty="0"/>
              <a:t> (lado débil)</a:t>
            </a:r>
          </a:p>
          <a:p>
            <a:r>
              <a:rPr lang="es-ES" b="1" dirty="0"/>
              <a:t>3 tareas donde emerge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b="1" dirty="0"/>
              <a:t>Centros + 2ª jugada</a:t>
            </a:r>
            <a:r>
              <a:rPr lang="es-ES" dirty="0"/>
              <a:t> (3 oleadas): central debe gestionar 1º palo/2º palo/penalti.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SSG con bandas</a:t>
            </a:r>
            <a:r>
              <a:rPr lang="es-ES" dirty="0"/>
              <a:t>: cada ataque debe terminar en centro o pase atrás → obliga a defender área y vigilancias.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Juego de profundidad</a:t>
            </a:r>
            <a:r>
              <a:rPr lang="es-ES" dirty="0"/>
              <a:t>: balón descubierto = permiso de ruptura; central debe ajustar línea + coordinación con GK.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98DB4-B4BC-FF4D-AF79-220399898398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0580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T = Trayectorias</a:t>
            </a:r>
            <a:r>
              <a:rPr lang="es-ES" dirty="0"/>
              <a:t> (jugador / balón / rival)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 = Distancias</a:t>
            </a:r>
            <a:r>
              <a:rPr lang="es-ES" dirty="0"/>
              <a:t> (respecto a quién / a qué)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U = Ubicaciones</a:t>
            </a:r>
            <a:r>
              <a:rPr lang="es-ES" dirty="0"/>
              <a:t> (zona + carril + referencia funcional)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 = Orientación</a:t>
            </a:r>
            <a:r>
              <a:rPr lang="es-ES" dirty="0"/>
              <a:t> (cuerpo + mirada + balón/portería/hombre)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 = Ritmos</a:t>
            </a:r>
            <a:r>
              <a:rPr lang="es-ES" dirty="0"/>
              <a:t> (pausa activa, </a:t>
            </a:r>
            <a:r>
              <a:rPr lang="es-ES" dirty="0" err="1"/>
              <a:t>microajustes</a:t>
            </a:r>
            <a:r>
              <a:rPr lang="es-ES" dirty="0"/>
              <a:t>, aceleración,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Rel</a:t>
            </a:r>
            <a:r>
              <a:rPr lang="es-ES" b="1" dirty="0"/>
              <a:t> = Relaciones</a:t>
            </a:r>
            <a:r>
              <a:rPr lang="es-ES" dirty="0"/>
              <a:t> (balón–rival–compañero–portería–intervalo / línea de pase)</a:t>
            </a:r>
          </a:p>
          <a:p>
            <a:r>
              <a:rPr lang="es-ES" dirty="0"/>
              <a:t>Y sí: </a:t>
            </a:r>
            <a:r>
              <a:rPr lang="es-ES" b="1" dirty="0"/>
              <a:t>en mi versión faltaba “Ritmos”</a:t>
            </a:r>
            <a:r>
              <a:rPr lang="es-ES" dirty="0"/>
              <a:t> como categoría explícita.</a:t>
            </a:r>
          </a:p>
          <a:p>
            <a:r>
              <a:rPr lang="es-ES" b="1" dirty="0"/>
              <a:t>Regla “Levante” para que no haya dudas</a:t>
            </a:r>
          </a:p>
          <a:p>
            <a:r>
              <a:rPr lang="es-ES" dirty="0"/>
              <a:t>En cada conducta </a:t>
            </a:r>
            <a:r>
              <a:rPr lang="es-ES" b="1" dirty="0"/>
              <a:t>NO tienen que salir todas</a:t>
            </a:r>
            <a:r>
              <a:rPr lang="es-ES" dirty="0"/>
              <a:t> (T, D, U, O, R, </a:t>
            </a:r>
            <a:r>
              <a:rPr lang="es-ES" dirty="0" err="1"/>
              <a:t>Rel</a:t>
            </a:r>
            <a:r>
              <a:rPr lang="es-ES" dirty="0"/>
              <a:t>).</a:t>
            </a:r>
            <a:br>
              <a:rPr lang="es-ES" dirty="0"/>
            </a:br>
            <a:r>
              <a:rPr lang="es-ES" dirty="0"/>
              <a:t>Solo las </a:t>
            </a:r>
            <a:r>
              <a:rPr lang="es-ES" b="1" dirty="0"/>
              <a:t>significativas</a:t>
            </a:r>
            <a:r>
              <a:rPr lang="es-ES" dirty="0"/>
              <a:t> para entender </a:t>
            </a:r>
            <a:r>
              <a:rPr lang="es-ES" b="1" dirty="0"/>
              <a:t>cómo se prepara y cómo se ejecuta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Pero cuando aparezcan, deben ir </a:t>
            </a:r>
            <a:r>
              <a:rPr lang="es-ES" b="1" dirty="0"/>
              <a:t>referenciadas</a:t>
            </a:r>
            <a:r>
              <a:rPr lang="es-ES" dirty="0"/>
              <a:t> (respecto a quién/qué).</a:t>
            </a:r>
          </a:p>
          <a:p>
            <a:endParaRPr lang="es-ES" b="1" dirty="0"/>
          </a:p>
          <a:p>
            <a:r>
              <a:rPr lang="es-ES" b="1" dirty="0"/>
              <a:t>Siglas definitivas (para toda tabla madre)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 = Distancia</a:t>
            </a:r>
            <a:r>
              <a:rPr lang="es-ES" dirty="0"/>
              <a:t> (¿a quién? rival / balón / compañero / portería / espacio)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T = Trayectoria</a:t>
            </a:r>
            <a:r>
              <a:rPr lang="es-ES" dirty="0"/>
              <a:t> (del </a:t>
            </a:r>
            <a:r>
              <a:rPr lang="es-ES" b="1" dirty="0"/>
              <a:t>jugador / balón / rival</a:t>
            </a:r>
            <a:r>
              <a:rPr lang="es-ES" dirty="0"/>
              <a:t>: diagonal, paralela, curva, corta, larga…)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U = Ubicación</a:t>
            </a:r>
            <a:r>
              <a:rPr lang="es-ES" dirty="0"/>
              <a:t> (zona + carril + referencia: intervalo, espalda, 2º palo, línea de pase…)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 = Orientación</a:t>
            </a:r>
            <a:r>
              <a:rPr lang="es-ES" dirty="0"/>
              <a:t> (cuerpo y/o mirada: balón–portería, balón–hombre, perfil abierto/medio/cerrado)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RT = Ritmos</a:t>
            </a:r>
            <a:r>
              <a:rPr lang="es-ES" dirty="0"/>
              <a:t> (tempo de la acción)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 = Relaciones</a:t>
            </a:r>
            <a:r>
              <a:rPr lang="es-ES" dirty="0"/>
              <a:t> (con quién y para qué: fijar/soltar, tercer hombre, atraer/liberar, cobertura, marcas…)</a:t>
            </a:r>
          </a:p>
          <a:p>
            <a:r>
              <a:rPr lang="es-ES" b="1" dirty="0"/>
              <a:t>RT (Ritmos) — qué debe aparecer (y cómo redactarlo)</a:t>
            </a:r>
          </a:p>
          <a:p>
            <a:r>
              <a:rPr lang="es-ES" b="1" dirty="0"/>
              <a:t>RT es “cómo gestiono el tiempo” para crear ventaja.</a:t>
            </a:r>
            <a:r>
              <a:rPr lang="es-ES" dirty="0"/>
              <a:t> Las piezas más útiles y repetibles: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Aceleración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pausa activa → aceleración corta (1–2 apoyos)</a:t>
            </a:r>
            <a:r>
              <a:rPr lang="es-ES" dirty="0"/>
              <a:t>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acelera al compromiso del rival</a:t>
            </a:r>
            <a:r>
              <a:rPr lang="es-ES" dirty="0"/>
              <a:t> (cuando pisa/entra), no antes”</a:t>
            </a:r>
          </a:p>
          <a:p>
            <a:pPr>
              <a:buFont typeface="+mj-lt"/>
              <a:buAutoNum type="arabicPeriod" startAt="2"/>
            </a:pPr>
            <a:r>
              <a:rPr lang="es-ES" b="1" dirty="0"/>
              <a:t>Ralentización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ralentiza para fijar</a:t>
            </a:r>
            <a:r>
              <a:rPr lang="es-ES" dirty="0"/>
              <a:t> (sin matar el balón)”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ralentiza para atraer</a:t>
            </a:r>
            <a:r>
              <a:rPr lang="es-ES" dirty="0"/>
              <a:t> y habilitar línea de pase”</a:t>
            </a:r>
          </a:p>
          <a:p>
            <a:pPr>
              <a:buFont typeface="+mj-lt"/>
              <a:buAutoNum type="arabicPeriod" startAt="3"/>
            </a:pPr>
            <a:r>
              <a:rPr lang="es-ES" b="1" dirty="0"/>
              <a:t>Pausa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pausa activa</a:t>
            </a:r>
            <a:r>
              <a:rPr lang="es-ES" dirty="0"/>
              <a:t> (no pausa muerta): balón jugable + escaneo”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pausa breve</a:t>
            </a:r>
            <a:r>
              <a:rPr lang="es-ES" dirty="0"/>
              <a:t> (0,5–1 s) para que aparezca la ventana”</a:t>
            </a:r>
          </a:p>
          <a:p>
            <a:pPr>
              <a:buFont typeface="+mj-lt"/>
              <a:buAutoNum type="arabicPeriod" startAt="4"/>
            </a:pPr>
            <a:r>
              <a:rPr lang="es-ES" b="1" dirty="0"/>
              <a:t>Sostener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sostener amenaza</a:t>
            </a:r>
            <a:r>
              <a:rPr lang="es-ES" dirty="0"/>
              <a:t> 1–2 s (sin exponerte) para ordenar/seleccionar”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típico en continuidad o cuando necesitas “ganar tiempo” para un apoyo</a:t>
            </a:r>
          </a:p>
          <a:p>
            <a:pPr>
              <a:buFont typeface="+mj-lt"/>
              <a:buAutoNum type="arabicPeriod" startAt="5"/>
            </a:pPr>
            <a:r>
              <a:rPr lang="es-ES" b="1" dirty="0"/>
              <a:t>Ruptura de ritmo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cambio de ritmo real</a:t>
            </a:r>
            <a:r>
              <a:rPr lang="es-ES" dirty="0"/>
              <a:t>: lento–rápido o rápido–lento para desajustar”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ojo: si no hay </a:t>
            </a:r>
            <a:r>
              <a:rPr lang="es-ES" i="1" dirty="0"/>
              <a:t>amenaza real</a:t>
            </a:r>
            <a:r>
              <a:rPr lang="es-ES" dirty="0"/>
              <a:t>, no es cambio de ritmo, es “gesto vacío”</a:t>
            </a:r>
          </a:p>
          <a:p>
            <a:r>
              <a:rPr lang="es-ES" b="1" dirty="0"/>
              <a:t>Regla de calidad (muy Levante):</a:t>
            </a:r>
            <a:r>
              <a:rPr lang="es-ES" dirty="0"/>
              <a:t> RT siempre describe </a:t>
            </a:r>
            <a:r>
              <a:rPr lang="es-ES" b="1" dirty="0"/>
              <a:t>un patrón temporal funcional</a:t>
            </a:r>
            <a:r>
              <a:rPr lang="es-ES" dirty="0"/>
              <a:t> (“pausa activa → salida”, “ralentiza para fijar”) y, si procede, </a:t>
            </a:r>
            <a:r>
              <a:rPr lang="es-ES" b="1" dirty="0"/>
              <a:t>el disparador</a:t>
            </a:r>
            <a:r>
              <a:rPr lang="es-ES" dirty="0"/>
              <a:t> (“cuando el rival pisa / cuando llega la 2ª oleada / cuando aparece la ventana”).</a:t>
            </a:r>
          </a:p>
          <a:p>
            <a:r>
              <a:rPr lang="es-ES" b="1" dirty="0"/>
              <a:t>R (Relaciones) — para no mezclar con RT</a:t>
            </a:r>
          </a:p>
          <a:p>
            <a:r>
              <a:rPr lang="es-ES" dirty="0"/>
              <a:t>R no es tempo; R es </a:t>
            </a:r>
            <a:r>
              <a:rPr lang="es-ES" b="1" dirty="0"/>
              <a:t>propósito sistémico</a:t>
            </a:r>
            <a:r>
              <a:rPr lang="es-E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fijar para liberar</a:t>
            </a:r>
            <a:r>
              <a:rPr lang="es-ES" dirty="0"/>
              <a:t> al apoyo interior”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atraer al defensor</a:t>
            </a:r>
            <a:r>
              <a:rPr lang="es-ES" dirty="0"/>
              <a:t> del intervalo para filtrar”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“</a:t>
            </a:r>
            <a:r>
              <a:rPr lang="es-ES" b="1" dirty="0"/>
              <a:t>conectar continuidad</a:t>
            </a:r>
            <a:r>
              <a:rPr lang="es-ES" dirty="0"/>
              <a:t> (tercer hombre / apoyo de retorno)”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/>
              <a:t>“</a:t>
            </a:r>
            <a:r>
              <a:rPr lang="es-ES" b="1"/>
              <a:t>proteger compañero</a:t>
            </a:r>
            <a:r>
              <a:rPr lang="es-ES"/>
              <a:t> (cobertura / permuta / marca)”</a:t>
            </a:r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endParaRPr lang="es-ES" b="1" dirty="0"/>
          </a:p>
          <a:p>
            <a:r>
              <a:rPr lang="es-ES" b="1" dirty="0"/>
              <a:t>Lo valioso (2 reglas de oro)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Tu prioridad es </a:t>
            </a:r>
            <a:r>
              <a:rPr lang="es-ES" b="1" dirty="0"/>
              <a:t>profundidad y área</a:t>
            </a:r>
            <a:r>
              <a:rPr lang="es-ES" dirty="0"/>
              <a:t>: que no haya ruptura limpia ni remate claro.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Vigilancia activa</a:t>
            </a:r>
            <a:r>
              <a:rPr lang="es-ES" dirty="0"/>
              <a:t>: ver balón y hombre; si </a:t>
            </a:r>
            <a:r>
              <a:rPr lang="es-ES" dirty="0" err="1"/>
              <a:t>mirás</a:t>
            </a:r>
            <a:r>
              <a:rPr lang="es-ES" dirty="0"/>
              <a:t> solo balón, </a:t>
            </a:r>
            <a:r>
              <a:rPr lang="es-ES" dirty="0" err="1"/>
              <a:t>perdés</a:t>
            </a:r>
            <a:r>
              <a:rPr lang="es-ES" dirty="0"/>
              <a:t> segundo palo.</a:t>
            </a:r>
          </a:p>
          <a:p>
            <a:r>
              <a:rPr lang="es-ES" b="1" dirty="0" err="1"/>
              <a:t>KPIs</a:t>
            </a:r>
            <a:r>
              <a:rPr lang="es-ES" b="1" dirty="0"/>
              <a:t> mínimos (4)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Rupturas a espalda</a:t>
            </a:r>
            <a:r>
              <a:rPr lang="es-ES" dirty="0"/>
              <a:t> concedidas (0 es el objetivo)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Remates en área</a:t>
            </a:r>
            <a:r>
              <a:rPr lang="es-ES" dirty="0"/>
              <a:t> concedidos (especialmente zona central/2º palo)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% centros defendidos con éxito (bloqueo/despeje útil)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Llegadas del opuesto sin marca</a:t>
            </a:r>
            <a:r>
              <a:rPr lang="es-ES" dirty="0"/>
              <a:t> (lado débil)</a:t>
            </a:r>
          </a:p>
          <a:p>
            <a:r>
              <a:rPr lang="es-ES" b="1" dirty="0"/>
              <a:t>3 tareas donde emerge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b="1" dirty="0"/>
              <a:t>Centros + 2ª jugada</a:t>
            </a:r>
            <a:r>
              <a:rPr lang="es-ES" dirty="0"/>
              <a:t> (3 oleadas): central debe gestionar 1º palo/2º palo/penalti.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SSG con bandas</a:t>
            </a:r>
            <a:r>
              <a:rPr lang="es-ES" dirty="0"/>
              <a:t>: cada ataque debe terminar en centro o pase atrás → obliga a defender área y vigilancias.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Juego de profundidad</a:t>
            </a:r>
            <a:r>
              <a:rPr lang="es-ES" dirty="0"/>
              <a:t>: balón descubierto = permiso de ruptura; central debe ajustar línea + coordinación con GK.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98DB4-B4BC-FF4D-AF79-220399898398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597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Lo valioso (2 reglas de oro)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Tu prioridad es </a:t>
            </a:r>
            <a:r>
              <a:rPr lang="es-ES" b="1" dirty="0"/>
              <a:t>profundidad y área</a:t>
            </a:r>
            <a:r>
              <a:rPr lang="es-ES" dirty="0"/>
              <a:t>: que no haya ruptura limpia ni remate claro.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Vigilancia activa</a:t>
            </a:r>
            <a:r>
              <a:rPr lang="es-ES" dirty="0"/>
              <a:t>: ver balón y hombre; si </a:t>
            </a:r>
            <a:r>
              <a:rPr lang="es-ES" dirty="0" err="1"/>
              <a:t>mirás</a:t>
            </a:r>
            <a:r>
              <a:rPr lang="es-ES" dirty="0"/>
              <a:t> solo balón, </a:t>
            </a:r>
            <a:r>
              <a:rPr lang="es-ES" dirty="0" err="1"/>
              <a:t>perdés</a:t>
            </a:r>
            <a:r>
              <a:rPr lang="es-ES" dirty="0"/>
              <a:t> segundo palo.</a:t>
            </a:r>
          </a:p>
          <a:p>
            <a:r>
              <a:rPr lang="es-ES" b="1" dirty="0" err="1"/>
              <a:t>KPIs</a:t>
            </a:r>
            <a:r>
              <a:rPr lang="es-ES" b="1" dirty="0"/>
              <a:t> mínimos (4)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Rupturas a espalda</a:t>
            </a:r>
            <a:r>
              <a:rPr lang="es-ES" dirty="0"/>
              <a:t> concedidas (0 es el objetivo)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Remates en área</a:t>
            </a:r>
            <a:r>
              <a:rPr lang="es-ES" dirty="0"/>
              <a:t> concedidos (especialmente zona central/2º palo)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% centros defendidos con éxito (bloqueo/despeje útil)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Llegadas del opuesto sin marca</a:t>
            </a:r>
            <a:r>
              <a:rPr lang="es-ES" dirty="0"/>
              <a:t> (lado débil)</a:t>
            </a:r>
          </a:p>
          <a:p>
            <a:r>
              <a:rPr lang="es-ES" b="1" dirty="0"/>
              <a:t>3 tareas donde emerge</a:t>
            </a:r>
            <a:endParaRPr lang="es-ES" dirty="0"/>
          </a:p>
          <a:p>
            <a:pPr>
              <a:buFont typeface="+mj-lt"/>
              <a:buAutoNum type="arabicPeriod"/>
            </a:pPr>
            <a:r>
              <a:rPr lang="es-ES" b="1" dirty="0"/>
              <a:t>Centros + 2ª jugada</a:t>
            </a:r>
            <a:r>
              <a:rPr lang="es-ES" dirty="0"/>
              <a:t> (3 oleadas): central debe gestionar 1º palo/2º palo/penalti.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SSG con bandas</a:t>
            </a:r>
            <a:r>
              <a:rPr lang="es-ES" dirty="0"/>
              <a:t>: cada ataque debe terminar en centro o pase atrás → obliga a defender área y vigilancias.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Juego de profundidad</a:t>
            </a:r>
            <a:r>
              <a:rPr lang="es-ES" dirty="0"/>
              <a:t>: balón descubierto = permiso de ruptura; central debe ajustar línea + coordinación con GK.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98DB4-B4BC-FF4D-AF79-220399898398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0743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723D0-8D5B-D717-A690-9A703AD1D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566672-6184-497C-A6AA-D10119866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57513D-2FED-721D-323C-0455C2258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5CB2-87D5-CE4E-B180-135D6FD9813E}" type="datetimeFigureOut">
              <a:rPr lang="es-ES" smtClean="0"/>
              <a:t>24/3/26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DA0DFF-0D38-7D3E-F3F5-4CD8B0CE9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E94D3E-F5C8-BC9D-F7B3-770E327B5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2323-F9CF-EF4A-AD7B-8570E3933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090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CEC4E-9205-7259-4E55-FA9102055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121663-3746-236C-7460-409D4AA84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272200-767F-8448-3262-BFE6F462D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5CB2-87D5-CE4E-B180-135D6FD9813E}" type="datetimeFigureOut">
              <a:rPr lang="es-ES" smtClean="0"/>
              <a:t>24/3/26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1A4E1D-3E0A-5C59-EF5F-1BD5438D3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68F853-066B-D3DF-12D4-E51480D30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2323-F9CF-EF4A-AD7B-8570E3933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6089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DEE91-BB88-2878-2F96-2B4C72437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69AA53-4BC1-2A60-8D2E-1870758A7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7E1A07-FC9C-D286-47A4-3C9C665A3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5CB2-87D5-CE4E-B180-135D6FD9813E}" type="datetimeFigureOut">
              <a:rPr lang="es-ES" smtClean="0"/>
              <a:t>24/3/26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5323F7-A94B-EA1B-B69A-456819569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A3E6F6-B711-A99F-15F3-F5F90C6BB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2323-F9CF-EF4A-AD7B-8570E3933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507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BCCF8-B45F-94C5-1CBB-8A13C89C6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EC310-4886-DAD4-F2CE-4E749D57B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9C1BA0-278E-86A0-9AB8-051B244FB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5B237F-75A5-D853-38DA-8601D5F52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5CB2-87D5-CE4E-B180-135D6FD9813E}" type="datetimeFigureOut">
              <a:rPr lang="es-ES" smtClean="0"/>
              <a:t>24/3/26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C5B971-FDA2-5904-0AC0-197B41536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A257ED-D9BC-8C44-F9F8-B4AA8C01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2323-F9CF-EF4A-AD7B-8570E3933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157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59F2B-6CFD-7390-2923-E70B9D88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E41765-EAA1-9DB6-FD8B-A1F87266E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2B7EF1-8931-7E92-F7D6-0D786AE29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D908565-45B0-8926-DAC6-D2A122DF8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B865FEB-A438-F99B-D1A7-27E332A0D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C5E34A-BCD7-0F7B-5BF7-41DC4E1A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5CB2-87D5-CE4E-B180-135D6FD9813E}" type="datetimeFigureOut">
              <a:rPr lang="es-ES" smtClean="0"/>
              <a:t>24/3/26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A893619-D175-F293-DD05-D27989D7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252F02B-6929-AB04-D18A-8C518814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2323-F9CF-EF4A-AD7B-8570E3933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01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59ACE-35F0-20A8-1614-1C9F6D8B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5496838-D6FB-C61D-4FED-4982CCD5A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5CB2-87D5-CE4E-B180-135D6FD9813E}" type="datetimeFigureOut">
              <a:rPr lang="es-ES" smtClean="0"/>
              <a:t>24/3/26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F3C5AE9-73D9-B1CE-70A5-A81313DEA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332650B-8EAA-3E94-E000-4EC1C392D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2323-F9CF-EF4A-AD7B-8570E3933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968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59C5D6C-00FA-1AB5-3CA4-B570E0375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5CB2-87D5-CE4E-B180-135D6FD9813E}" type="datetimeFigureOut">
              <a:rPr lang="es-ES" smtClean="0"/>
              <a:t>24/3/26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61BDF5A-57CA-04F8-90CC-4036C1B0F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19C150-19C0-B3FA-1A59-B6875FCE1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2323-F9CF-EF4A-AD7B-8570E3933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5083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74301-9214-4E97-8BA8-91D11ABED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884BA4-A733-220D-5B00-54B49F523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956C1F-8A0A-18C0-1D68-F29CB47C8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0009B0-6224-1E19-45A4-46C1BC6C7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5CB2-87D5-CE4E-B180-135D6FD9813E}" type="datetimeFigureOut">
              <a:rPr lang="es-ES" smtClean="0"/>
              <a:t>24/3/26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254C87-51E7-75D9-5BE4-1469D9E72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5E8EF3-237B-AE37-F23B-A6B946AD5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2323-F9CF-EF4A-AD7B-8570E3933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1740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EB61B-351D-F98B-B490-1C02CE9DD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D300612-3BE8-A57F-E5C1-D431FDACC7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270212-5E20-98B6-C1E5-D59596C27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1A1489-5CCD-8090-A4E2-818213A2A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5CB2-87D5-CE4E-B180-135D6FD9813E}" type="datetimeFigureOut">
              <a:rPr lang="es-ES" smtClean="0"/>
              <a:t>24/3/26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5CA310-5A29-A08D-2273-A5981A1E8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48622D-88A4-2060-155B-7CB1D244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2323-F9CF-EF4A-AD7B-8570E3933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602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EE215-F197-2361-CE42-21B00FFB9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17DC24-F117-416C-130F-37964AF5B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F14C35-D80A-F0AE-1369-57E9C74D6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5CB2-87D5-CE4E-B180-135D6FD9813E}" type="datetimeFigureOut">
              <a:rPr lang="es-ES" smtClean="0"/>
              <a:t>24/3/26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F69533-28B9-FCC8-71B5-81499A7C9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9CE6CE-1DE0-E0A8-48AE-4953876C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2323-F9CF-EF4A-AD7B-8570E3933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247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8D8459-38F4-77A9-E8FB-D9DF45CC1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2B989E-11BD-9646-8321-F6BE0615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25B987-BA05-5F4F-CD80-776E68E28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45CB2-87D5-CE4E-B180-135D6FD9813E}" type="datetimeFigureOut">
              <a:rPr lang="es-ES" smtClean="0"/>
              <a:t>24/3/26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36BD98-32A2-83FF-619F-4861AC41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560F19-C1B1-CDAF-8C88-521FB9046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C2323-F9CF-EF4A-AD7B-8570E3933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4177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4D1F89C-0475-0FF2-3736-634D760B3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F481A2-40D2-AD14-0A56-B96F31479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F15437-C3EA-54B1-E368-5547BBF9E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45CB2-87D5-CE4E-B180-135D6FD9813E}" type="datetimeFigureOut">
              <a:rPr lang="es-ES" smtClean="0"/>
              <a:t>24/3/26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2233ED-30FF-E7AC-6AF1-F88686529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F96FB2-0A96-8A81-80B7-6BBE042D8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C2323-F9CF-EF4A-AD7B-8570E3933C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797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D9461B-32C7-5BC1-5D42-6DE84BC39848}"/>
              </a:ext>
            </a:extLst>
          </p:cNvPr>
          <p:cNvSpPr txBox="1"/>
          <p:nvPr/>
        </p:nvSpPr>
        <p:spPr>
          <a:xfrm>
            <a:off x="566057" y="15457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F594954-BA2D-CFF6-527F-FC93085C2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737780"/>
              </p:ext>
            </p:extLst>
          </p:nvPr>
        </p:nvGraphicFramePr>
        <p:xfrm>
          <a:off x="0" y="0"/>
          <a:ext cx="12192000" cy="73976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23686">
                  <a:extLst>
                    <a:ext uri="{9D8B030D-6E8A-4147-A177-3AD203B41FA5}">
                      <a16:colId xmlns:a16="http://schemas.microsoft.com/office/drawing/2014/main" val="1389672343"/>
                    </a:ext>
                  </a:extLst>
                </a:gridCol>
                <a:gridCol w="3453114">
                  <a:extLst>
                    <a:ext uri="{9D8B030D-6E8A-4147-A177-3AD203B41FA5}">
                      <a16:colId xmlns:a16="http://schemas.microsoft.com/office/drawing/2014/main" val="227107546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22122351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68766763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21834129"/>
                    </a:ext>
                  </a:extLst>
                </a:gridCol>
              </a:tblGrid>
              <a:tr h="192254"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Columna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13947" marR="13947" marT="6973" marB="697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Qué es (definición operativa)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13947" marR="13947" marT="6973" marB="697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Para qué sirve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13947" marR="13947" marT="6973" marB="697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Cómo se redacta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13947" marR="13947" marT="6973" marB="697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 dirty="0">
                          <a:solidFill>
                            <a:schemeClr val="bg1"/>
                          </a:solidFill>
                        </a:rPr>
                        <a:t>Ejemplo breve</a:t>
                      </a:r>
                      <a:endParaRPr lang="es-ES" sz="1000" dirty="0">
                        <a:solidFill>
                          <a:schemeClr val="bg1"/>
                        </a:solidFill>
                      </a:endParaRPr>
                    </a:p>
                  </a:txBody>
                  <a:tcPr marL="13947" marR="13947" marT="6973" marB="6973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512923"/>
                  </a:ext>
                </a:extLst>
              </a:tr>
              <a:tr h="1072931">
                <a:tc>
                  <a:txBody>
                    <a:bodyPr/>
                    <a:lstStyle/>
                    <a:p>
                      <a:r>
                        <a:rPr lang="es-ES" sz="1000" b="1" dirty="0"/>
                        <a:t>Conducta</a:t>
                      </a:r>
                      <a:endParaRPr lang="es-ES" sz="1000" dirty="0"/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Unidad observable mínima de acción del jugador desde su demarcación, en un momento (MCB/MSB) y rol funcional concretos. Debe expresar qué percibe/atiende y qué hace. Puede ser CF (conducta funcional: varias soluciones válidas) o IF (invariante funcional: límite técnico/biomecánico que estabiliza eficacia o seguridad).</a:t>
                      </a:r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Es el núcleo de la tabla. Permite describir, entrenar, observar y dar </a:t>
                      </a:r>
                      <a:r>
                        <a:rPr lang="es-ES" sz="1000" b="0" dirty="0" err="1"/>
                        <a:t>feedback</a:t>
                      </a:r>
                      <a:r>
                        <a:rPr lang="es-ES" sz="1000" b="0" dirty="0"/>
                        <a:t> sobre lo que hace el jugador en una situación concreta.</a:t>
                      </a:r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Verbo perceptivo + acción. Redacción breve, específica y </a:t>
                      </a:r>
                      <a:r>
                        <a:rPr lang="es-ES" sz="1000" b="0" dirty="0" err="1"/>
                        <a:t>entrenable</a:t>
                      </a:r>
                      <a:r>
                        <a:rPr lang="es-ES" sz="1000" b="0" dirty="0"/>
                        <a:t>. Sin narrar toda la jugada.</a:t>
                      </a:r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“Escanear rival intermedio y ofrecer línea útil por delante del balón” / “Reconocer amenaza interior y cerrar intervalo”</a:t>
                      </a:r>
                    </a:p>
                  </a:txBody>
                  <a:tcPr marL="13947" marR="13947" marT="6973" marB="6973" anchor="ctr"/>
                </a:tc>
                <a:extLst>
                  <a:ext uri="{0D108BD9-81ED-4DB2-BD59-A6C34878D82A}">
                    <a16:rowId xmlns:a16="http://schemas.microsoft.com/office/drawing/2014/main" val="3226023930"/>
                  </a:ext>
                </a:extLst>
              </a:tr>
              <a:tr h="544524">
                <a:tc>
                  <a:txBody>
                    <a:bodyPr/>
                    <a:lstStyle/>
                    <a:p>
                      <a:r>
                        <a:rPr lang="es-ES" sz="1000" b="1" dirty="0" err="1"/>
                        <a:t>Subrol</a:t>
                      </a:r>
                      <a:endParaRPr lang="es-ES" sz="1000" dirty="0"/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Familia de acción a la que pertenece la conducta. No describe todo el comportamiento, sino el tipo de tarea funcional que está resolviendo el jugador.</a:t>
                      </a:r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/>
                        <a:t>Ordena la biblioteca de conductas y unifica el lenguaje entre técnicos.</a:t>
                      </a:r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/>
                        <a:t>1 palabra del vocabulario del modelo.</a:t>
                      </a:r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/>
                        <a:t>“Posicionarse”, “Desmarcarse”, “Fijar”, “Pasar”, “Interceptar”, “Disuadir”, “Reubicarse”, “Comunicar”</a:t>
                      </a:r>
                    </a:p>
                  </a:txBody>
                  <a:tcPr marL="13947" marR="13947" marT="6973" marB="6973" anchor="ctr"/>
                </a:tc>
                <a:extLst>
                  <a:ext uri="{0D108BD9-81ED-4DB2-BD59-A6C34878D82A}">
                    <a16:rowId xmlns:a16="http://schemas.microsoft.com/office/drawing/2014/main" val="39754798"/>
                  </a:ext>
                </a:extLst>
              </a:tr>
              <a:tr h="720660">
                <a:tc>
                  <a:txBody>
                    <a:bodyPr/>
                    <a:lstStyle/>
                    <a:p>
                      <a:r>
                        <a:rPr lang="es-ES" sz="1000" b="1" dirty="0"/>
                        <a:t>Intención</a:t>
                      </a:r>
                      <a:endParaRPr lang="es-ES" sz="1000" dirty="0"/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Para qué hace eso el jugador en ese momento. Es el propósito funcional inmediato de la conducta.</a:t>
                      </a:r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/>
                        <a:t>Alinea la conducta individual con la lógica colectiva del juego. Evita describir acciones sin finalidad.</a:t>
                      </a:r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/>
                        <a:t>1–2 palabras, siempre en clave funcional. Diferenciar MCB y MSB.</a:t>
                      </a:r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MCB: “Progresar”, “Superar”, “Finalizar” / MSB: “Impedir progresión”, “Evitar finalización”, “Recuperar”, “Contener”, “Sostener”</a:t>
                      </a:r>
                    </a:p>
                  </a:txBody>
                  <a:tcPr marL="13947" marR="13947" marT="6973" marB="6973" anchor="ctr"/>
                </a:tc>
                <a:extLst>
                  <a:ext uri="{0D108BD9-81ED-4DB2-BD59-A6C34878D82A}">
                    <a16:rowId xmlns:a16="http://schemas.microsoft.com/office/drawing/2014/main" val="2553380381"/>
                  </a:ext>
                </a:extLst>
              </a:tr>
              <a:tr h="1056700">
                <a:tc>
                  <a:txBody>
                    <a:bodyPr/>
                    <a:lstStyle/>
                    <a:p>
                      <a:r>
                        <a:rPr lang="es-ES" sz="1000" b="1" dirty="0"/>
                        <a:t>Contexto</a:t>
                      </a:r>
                      <a:endParaRPr lang="es-ES" sz="1000" dirty="0"/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Es el lugar preferente donde se da la conducta del jugador en ese instante. Sitúa dónde está el jugador y qué rival le condiciona directamente. Debe mostrar: zona (Z1-Z2-Z3-Z4), carril (CC-CI-CE), espacio de relación respecto al centro de juego (CJ-CN-IN-AL), rival condicionante (demarcación: P2, P6, P8, etc.) y la intención de ese rival sobre la acción del jugador.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Permite ubicar la conducta en su marco real de aparición, diferenciando no solo dónde está el jugador, sino también qué oposición concreta activa o condiciona su respuesta funcional. Ayuda a saber cuándo aplica esa conducta y a no leerla de forma aislada.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Formato compacto y estable: Z + Carril + Espacio de relación + Rival condicionante + Intención rival. No narra toda la jugada; solo ubica al jugador y la fuente principal de condicionamiento.</a:t>
                      </a:r>
                    </a:p>
                  </a:txBody>
                  <a:tcPr marL="61286" marR="61286" marT="30643" marB="30643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Z3 · CI · CN · Rival </a:t>
                      </a:r>
                      <a:r>
                        <a:rPr lang="es-ES" sz="1000" b="0" dirty="0" err="1"/>
                        <a:t>cond</a:t>
                      </a:r>
                      <a:r>
                        <a:rPr lang="es-ES" sz="1000" b="0" dirty="0"/>
                        <a:t>.: P6 · Intención rival: saltar para robar</a:t>
                      </a:r>
                    </a:p>
                  </a:txBody>
                  <a:tcPr marL="61286" marR="61286" marT="30643" marB="30643" anchor="ctr"/>
                </a:tc>
                <a:extLst>
                  <a:ext uri="{0D108BD9-81ED-4DB2-BD59-A6C34878D82A}">
                    <a16:rowId xmlns:a16="http://schemas.microsoft.com/office/drawing/2014/main" val="4162912338"/>
                  </a:ext>
                </a:extLst>
              </a:tr>
              <a:tr h="1210177">
                <a:tc>
                  <a:txBody>
                    <a:bodyPr/>
                    <a:lstStyle/>
                    <a:p>
                      <a:r>
                        <a:rPr lang="es-ES" sz="1000" b="1" dirty="0"/>
                        <a:t>Elementos conformadores</a:t>
                      </a:r>
                      <a:endParaRPr lang="es-ES" sz="1000" dirty="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Son las claves del entorno que hacen emerger la conducta. No describen toda la situación, sino aquello que la activa, condiciona o justifica. Se organizan como: D = Demanda del entorno, V = Ventaja que aparece, S = Solución funcional. Dentro de estos tres puntos pueden incluirse trayectorias, distancias, ubicaciones, orientaciones y ritmos, pero solo si realmente explican por qué aparece la conducta.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Ayudan a entender por qué esa conducta tiene sentido en ese contexto, qué debe percibir el jugador para que emerja y también sirven como base para la generación de tareas y </a:t>
                      </a:r>
                      <a:r>
                        <a:rPr lang="es-ES" sz="1000" b="0" dirty="0" err="1"/>
                        <a:t>constraints</a:t>
                      </a:r>
                      <a:r>
                        <a:rPr lang="es-ES" sz="1000" b="0" dirty="0"/>
                        <a:t> de entrenamiento.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Formato breve y causal: D: ... / V: ... / S: .... Redacción sintética, sin narrar toda la jugada y sin invadir otras columnas como Contexto o RTI.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D: rival intermedio tapa línea directa. V: aparece intervalo exterior-interior. S: desmarque corto de ajuste para ofrecer apoyo útil.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1002165886"/>
                  </a:ext>
                </a:extLst>
              </a:tr>
              <a:tr h="1511386">
                <a:tc>
                  <a:txBody>
                    <a:bodyPr/>
                    <a:lstStyle/>
                    <a:p>
                      <a:r>
                        <a:rPr lang="es-ES" sz="1100" b="1" dirty="0"/>
                        <a:t>RTCI</a:t>
                      </a:r>
                      <a:endParaRPr lang="es-ES" sz="110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s-ES" sz="1100" b="0" dirty="0"/>
                        <a:t>Describe cómo se ejecuta correctamente la conducta. Si la conducta implica intervención directa con balón, recoge los aspectos técnico-coordinativos. Si no implica intervención directa con balón, recoge los aspectos coordinativo-motrices: perfil corporal, apoyos, timing, orientación, centro de masas, aplicación de fuerzas, frenadas, aceleraciones, reajustes y mecánicas multidireccionales.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s-ES" sz="1100" b="0" dirty="0"/>
                        <a:t>Es el criterio de calidad visible de la conducta para observar, corregir y entrenar. Traduce la conducta al plano de la ejecución corporal y coordinativa.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s-ES" sz="1100" b="0" dirty="0"/>
                        <a:t>Frases cortas, </a:t>
                      </a:r>
                      <a:r>
                        <a:rPr lang="es-ES" sz="1100" b="0" dirty="0" err="1"/>
                        <a:t>entrenables</a:t>
                      </a:r>
                      <a:r>
                        <a:rPr lang="es-ES" sz="1100" b="0" dirty="0"/>
                        <a:t> y observables. No repetir la intención táctica; aquí se describe el cómo de la ejecución.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r>
                        <a:rPr lang="es-ES" sz="1100" b="0" dirty="0"/>
                        <a:t>“Perfil medio abierto, apoyo de orientación, temporizar antes de soltar” / “Ajuste corto, frenada previa, </a:t>
                      </a:r>
                      <a:r>
                        <a:rPr lang="es-ES" sz="1100" b="0" dirty="0" err="1"/>
                        <a:t>reapoyo</a:t>
                      </a:r>
                      <a:r>
                        <a:rPr lang="es-ES" sz="1100" b="0" dirty="0"/>
                        <a:t> orientado y salida limpia”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03324942"/>
                  </a:ext>
                </a:extLst>
              </a:tr>
              <a:tr h="544524">
                <a:tc>
                  <a:txBody>
                    <a:bodyPr/>
                    <a:lstStyle/>
                    <a:p>
                      <a:r>
                        <a:rPr lang="es-ES" sz="1000" b="1" dirty="0"/>
                        <a:t>Clips</a:t>
                      </a:r>
                      <a:endParaRPr lang="es-ES" sz="1000" dirty="0"/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/>
                        <a:t>Referencia visual para enseñar la conducta con ejemplos válidos y no válidos.</a:t>
                      </a:r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/>
                        <a:t>Facilita formación interna, observación compartida y calibración entre entrenadores.</a:t>
                      </a:r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/>
                        <a:t>Etiquetado simple.</a:t>
                      </a:r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“OK 1 / OK 2 / ERR 1”</a:t>
                      </a:r>
                    </a:p>
                  </a:txBody>
                  <a:tcPr marL="13947" marR="13947" marT="6973" marB="6973" anchor="ctr"/>
                </a:tc>
                <a:extLst>
                  <a:ext uri="{0D108BD9-81ED-4DB2-BD59-A6C34878D82A}">
                    <a16:rowId xmlns:a16="http://schemas.microsoft.com/office/drawing/2014/main" val="1561443924"/>
                  </a:ext>
                </a:extLst>
              </a:tr>
              <a:tr h="544524">
                <a:tc>
                  <a:txBody>
                    <a:bodyPr/>
                    <a:lstStyle/>
                    <a:p>
                      <a:r>
                        <a:rPr lang="es-ES" sz="1000" b="1" dirty="0"/>
                        <a:t>Error típico</a:t>
                      </a:r>
                      <a:endParaRPr lang="es-ES" sz="1000" dirty="0"/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/>
                        <a:t>Fallo recurrente que rompe la funcionalidad de la conducta. Conviene registrar qué error aparece y qué impacto produce.</a:t>
                      </a:r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/>
                        <a:t>Permite afinar el feedback y diferenciar un error superficial de uno que altera la función.</a:t>
                      </a:r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/>
                        <a:t>Muy concreto. Mejor si separa error e impacto.</a:t>
                      </a:r>
                    </a:p>
                  </a:txBody>
                  <a:tcPr marL="13947" marR="13947" marT="6973" marB="6973" anchor="ctr"/>
                </a:tc>
                <a:tc>
                  <a:txBody>
                    <a:bodyPr/>
                    <a:lstStyle/>
                    <a:p>
                      <a:r>
                        <a:rPr lang="es-ES" sz="1000" b="0" dirty="0"/>
                        <a:t>“Llega al apoyo demasiado pronto y se mete en sombra; anula línea útil” / “Salta recto y permite pared interior”</a:t>
                      </a:r>
                    </a:p>
                  </a:txBody>
                  <a:tcPr marL="13947" marR="13947" marT="6973" marB="6973" anchor="ctr"/>
                </a:tc>
                <a:extLst>
                  <a:ext uri="{0D108BD9-81ED-4DB2-BD59-A6C34878D82A}">
                    <a16:rowId xmlns:a16="http://schemas.microsoft.com/office/drawing/2014/main" val="532607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2166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D9461B-32C7-5BC1-5D42-6DE84BC39848}"/>
              </a:ext>
            </a:extLst>
          </p:cNvPr>
          <p:cNvSpPr txBox="1"/>
          <p:nvPr/>
        </p:nvSpPr>
        <p:spPr>
          <a:xfrm>
            <a:off x="566057" y="15457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BBF1D15-FE8A-0A27-2A54-28247C3B2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027181"/>
              </p:ext>
            </p:extLst>
          </p:nvPr>
        </p:nvGraphicFramePr>
        <p:xfrm>
          <a:off x="0" y="856527"/>
          <a:ext cx="12192000" cy="5874152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809539">
                  <a:extLst>
                    <a:ext uri="{9D8B030D-6E8A-4147-A177-3AD203B41FA5}">
                      <a16:colId xmlns:a16="http://schemas.microsoft.com/office/drawing/2014/main" val="3052140748"/>
                    </a:ext>
                  </a:extLst>
                </a:gridCol>
                <a:gridCol w="3537965">
                  <a:extLst>
                    <a:ext uri="{9D8B030D-6E8A-4147-A177-3AD203B41FA5}">
                      <a16:colId xmlns:a16="http://schemas.microsoft.com/office/drawing/2014/main" val="2993732758"/>
                    </a:ext>
                  </a:extLst>
                </a:gridCol>
                <a:gridCol w="2685326">
                  <a:extLst>
                    <a:ext uri="{9D8B030D-6E8A-4147-A177-3AD203B41FA5}">
                      <a16:colId xmlns:a16="http://schemas.microsoft.com/office/drawing/2014/main" val="3919580114"/>
                    </a:ext>
                  </a:extLst>
                </a:gridCol>
                <a:gridCol w="2488557">
                  <a:extLst>
                    <a:ext uri="{9D8B030D-6E8A-4147-A177-3AD203B41FA5}">
                      <a16:colId xmlns:a16="http://schemas.microsoft.com/office/drawing/2014/main" val="3108794058"/>
                    </a:ext>
                  </a:extLst>
                </a:gridCol>
                <a:gridCol w="1670613">
                  <a:extLst>
                    <a:ext uri="{9D8B030D-6E8A-4147-A177-3AD203B41FA5}">
                      <a16:colId xmlns:a16="http://schemas.microsoft.com/office/drawing/2014/main" val="3678989466"/>
                    </a:ext>
                  </a:extLst>
                </a:gridCol>
              </a:tblGrid>
              <a:tr h="209838"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Bloque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13902" marR="13902" marT="6951" marB="6951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Qué es (definición operativa Levante)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13902" marR="13902" marT="6951" marB="6951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Para qué sirve en el proyecto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13902" marR="13902" marT="6951" marB="6951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Cómo se redacta (regla Levante)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13902" marR="13902" marT="6951" marB="6951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 dirty="0">
                          <a:solidFill>
                            <a:schemeClr val="bg1"/>
                          </a:solidFill>
                        </a:rPr>
                        <a:t>Ejemplo breve (plantilla)</a:t>
                      </a:r>
                      <a:endParaRPr lang="es-ES" sz="1000" dirty="0">
                        <a:solidFill>
                          <a:schemeClr val="bg1"/>
                        </a:solidFill>
                      </a:endParaRPr>
                    </a:p>
                  </a:txBody>
                  <a:tcPr marL="13902" marR="13902" marT="6951" marB="6951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64573"/>
                  </a:ext>
                </a:extLst>
              </a:tr>
              <a:tr h="1363619">
                <a:tc>
                  <a:txBody>
                    <a:bodyPr/>
                    <a:lstStyle/>
                    <a:p>
                      <a:r>
                        <a:rPr lang="es-ES" sz="1000" b="1"/>
                        <a:t>Zonas (altura/profundidad)</a:t>
                      </a:r>
                      <a:endParaRPr lang="es-ES" sz="1000"/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Referencia de </a:t>
                      </a:r>
                      <a:r>
                        <a:rPr lang="es-ES" sz="1000" b="1"/>
                        <a:t>altura y profundidad</a:t>
                      </a:r>
                      <a:r>
                        <a:rPr lang="es-ES" sz="1000"/>
                        <a:t> del lugar donde emerge la conducta. Organiza el campo en </a:t>
                      </a:r>
                      <a:r>
                        <a:rPr lang="es-ES" sz="1000" b="1"/>
                        <a:t>Z1–Z4</a:t>
                      </a:r>
                      <a:r>
                        <a:rPr lang="es-ES" sz="1000"/>
                        <a:t> según vuestro mapa interno y permite ubicar la acción en relación con la progresión, la portería propia/rival y la estructura colectiva. Es una referencia estable en el mapa, aunque su lectura funcional depende del contexto del juego.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Aterriza el </a:t>
                      </a:r>
                      <a:r>
                        <a:rPr lang="es-ES" sz="1000" b="1"/>
                        <a:t>dónde vertical</a:t>
                      </a:r>
                      <a:r>
                        <a:rPr lang="es-ES" sz="1000"/>
                        <a:t> de la conducta. Ayuda a diferenciar qué conductas son más probables o prioritarias según la altura de la acción.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Se marca con </a:t>
                      </a:r>
                      <a:r>
                        <a:rPr lang="es-ES" sz="1000" b="1"/>
                        <a:t>Z1, Z2, Z3 o Z4</a:t>
                      </a:r>
                      <a:r>
                        <a:rPr lang="es-ES" sz="1000"/>
                        <a:t> según vuestro mapa. Debe leerse como ubicación funcional del jugador en ese instante.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 b="1" dirty="0"/>
                        <a:t>Z3</a:t>
                      </a:r>
                      <a:endParaRPr lang="es-ES" sz="1000" dirty="0"/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3959494513"/>
                  </a:ext>
                </a:extLst>
              </a:tr>
              <a:tr h="786729">
                <a:tc>
                  <a:txBody>
                    <a:bodyPr/>
                    <a:lstStyle/>
                    <a:p>
                      <a:r>
                        <a:rPr lang="es-ES" sz="1000" b="1"/>
                        <a:t>Carriles (anchura)</a:t>
                      </a:r>
                      <a:endParaRPr lang="es-ES" sz="1000"/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Referencia de </a:t>
                      </a:r>
                      <a:r>
                        <a:rPr lang="es-ES" sz="1000" b="1"/>
                        <a:t>anchura</a:t>
                      </a:r>
                      <a:r>
                        <a:rPr lang="es-ES" sz="1000"/>
                        <a:t> que ubica por dónde está el jugador o por dónde se organiza la relación principal de la conducta. Ordena las relaciones laterales e intervalos del juego.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Permite concretar </a:t>
                      </a:r>
                      <a:r>
                        <a:rPr lang="es-ES" sz="1000" b="1"/>
                        <a:t>dónde ocurre la conducta en anchura</a:t>
                      </a:r>
                      <a:r>
                        <a:rPr lang="es-ES" sz="1000"/>
                        <a:t> y unificar el lenguaje entre staff, clips y tareas.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Nomenclatura fija: </a:t>
                      </a:r>
                      <a:r>
                        <a:rPr lang="es-ES" sz="1000" b="1"/>
                        <a:t>CC</a:t>
                      </a:r>
                      <a:r>
                        <a:rPr lang="es-ES" sz="1000"/>
                        <a:t> = carril central; </a:t>
                      </a:r>
                      <a:r>
                        <a:rPr lang="es-ES" sz="1000" b="1"/>
                        <a:t>CI</a:t>
                      </a:r>
                      <a:r>
                        <a:rPr lang="es-ES" sz="1000"/>
                        <a:t> = carril interior; </a:t>
                      </a:r>
                      <a:r>
                        <a:rPr lang="es-ES" sz="1000" b="1"/>
                        <a:t>CE</a:t>
                      </a:r>
                      <a:r>
                        <a:rPr lang="es-ES" sz="1000"/>
                        <a:t> = carril exterior. Si queréis más precisión, puede añadirse lado: derecho/izquierdo.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 b="1" dirty="0"/>
                        <a:t>CI derecho</a:t>
                      </a:r>
                      <a:r>
                        <a:rPr lang="es-ES" sz="1000" dirty="0"/>
                        <a:t> / </a:t>
                      </a:r>
                      <a:r>
                        <a:rPr lang="es-ES" sz="1000" b="1" dirty="0"/>
                        <a:t>CC</a:t>
                      </a:r>
                      <a:r>
                        <a:rPr lang="es-ES" sz="1000" dirty="0"/>
                        <a:t> / </a:t>
                      </a:r>
                      <a:r>
                        <a:rPr lang="es-ES" sz="1000" b="1" dirty="0"/>
                        <a:t>CE izquierdo</a:t>
                      </a:r>
                      <a:endParaRPr lang="es-ES" sz="1000" dirty="0"/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936792670"/>
                  </a:ext>
                </a:extLst>
              </a:tr>
              <a:tr h="1363619">
                <a:tc>
                  <a:txBody>
                    <a:bodyPr/>
                    <a:lstStyle/>
                    <a:p>
                      <a:r>
                        <a:rPr lang="es-ES" sz="1000" b="1"/>
                        <a:t>Espacios de intervención (espacios de fase)</a:t>
                      </a:r>
                      <a:endParaRPr lang="es-ES" sz="1000"/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Referencia </a:t>
                      </a:r>
                      <a:r>
                        <a:rPr lang="es-ES" sz="1000" b="1"/>
                        <a:t>relacional</a:t>
                      </a:r>
                      <a:r>
                        <a:rPr lang="es-ES" sz="1000"/>
                        <a:t> de la ubicación del jugador respecto al </a:t>
                      </a:r>
                      <a:r>
                        <a:rPr lang="es-ES" sz="1000" b="1"/>
                        <a:t>centro de juego</a:t>
                      </a:r>
                      <a:r>
                        <a:rPr lang="es-ES" sz="1000"/>
                        <a:t> y a su posibilidad de intervenir en la acción. Expresa el grado de proximidad funcional a la jugada: </a:t>
                      </a:r>
                      <a:r>
                        <a:rPr lang="es-ES" sz="1000" b="1"/>
                        <a:t>CJ</a:t>
                      </a:r>
                      <a:r>
                        <a:rPr lang="es-ES" sz="1000"/>
                        <a:t> (centro de juego), </a:t>
                      </a:r>
                      <a:r>
                        <a:rPr lang="es-ES" sz="1000" b="1"/>
                        <a:t>CN</a:t>
                      </a:r>
                      <a:r>
                        <a:rPr lang="es-ES" sz="1000"/>
                        <a:t> (cercano), </a:t>
                      </a:r>
                      <a:r>
                        <a:rPr lang="es-ES" sz="1000" b="1"/>
                        <a:t>IN</a:t>
                      </a:r>
                      <a:r>
                        <a:rPr lang="es-ES" sz="1000"/>
                        <a:t> (intermedio), </a:t>
                      </a:r>
                      <a:r>
                        <a:rPr lang="es-ES" sz="1000" b="1"/>
                        <a:t>AL</a:t>
                      </a:r>
                      <a:r>
                        <a:rPr lang="es-ES" sz="1000"/>
                        <a:t> (alejado). No describe solo distancia física, sino </a:t>
                      </a:r>
                      <a:r>
                        <a:rPr lang="es-ES" sz="1000" b="1"/>
                        <a:t>capacidad de intervención</a:t>
                      </a:r>
                      <a:r>
                        <a:rPr lang="es-ES" sz="1000"/>
                        <a:t> en esa fase de la acción.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Diferencia mejor el papel funcional del jugador dentro de una misma zona y carril. Permite distinguir si está en intervención directa, apoyo próximo, vigilancia intermedia o equilibrio alejado. Es muy útil para separar mejor </a:t>
                      </a:r>
                      <a:r>
                        <a:rPr lang="es-ES" sz="1000" b="1"/>
                        <a:t>rol 1, rol 2 y rol 3</a:t>
                      </a:r>
                      <a:r>
                        <a:rPr lang="es-ES" sz="1000"/>
                        <a:t>.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Se marca con una de estas etiquetas: </a:t>
                      </a:r>
                      <a:r>
                        <a:rPr lang="es-ES" sz="1000" b="1"/>
                        <a:t>CJ / CN / IN / AL</a:t>
                      </a:r>
                      <a:r>
                        <a:rPr lang="es-ES" sz="1000"/>
                        <a:t>. Debe leerse siempre en relación con el centro de juego del instante.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 b="1"/>
                        <a:t>CN</a:t>
                      </a:r>
                      <a:endParaRPr lang="es-ES" sz="1000"/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1078198331"/>
                  </a:ext>
                </a:extLst>
              </a:tr>
              <a:tr h="979025">
                <a:tc>
                  <a:txBody>
                    <a:bodyPr/>
                    <a:lstStyle/>
                    <a:p>
                      <a:r>
                        <a:rPr lang="es-ES" sz="1000" b="1"/>
                        <a:t>Rival condicionante</a:t>
                      </a:r>
                      <a:endParaRPr lang="es-ES" sz="1000"/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Rival que </a:t>
                      </a:r>
                      <a:r>
                        <a:rPr lang="es-ES" sz="1000" b="1" dirty="0"/>
                        <a:t>condiciona de forma principal</a:t>
                      </a:r>
                      <a:r>
                        <a:rPr lang="es-ES" sz="1000" dirty="0"/>
                        <a:t> la conducta del jugador en ese instante. Se identifica por su </a:t>
                      </a:r>
                      <a:r>
                        <a:rPr lang="es-ES" sz="1000" b="1" dirty="0"/>
                        <a:t>demarcación</a:t>
                      </a:r>
                      <a:r>
                        <a:rPr lang="es-ES" sz="1000" dirty="0"/>
                        <a:t> dentro del modelo (P2, P6, P8, P9, etc.). No es “todos los rivales implicados”, sino el que más activa o modifica la respuesta funcional del jugador.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Centra la observación en la oposición que realmente explica la conducta. Evita descripciones difusas o genéricas.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Formato fijo: </a:t>
                      </a:r>
                      <a:r>
                        <a:rPr lang="es-ES" sz="1000" b="1"/>
                        <a:t>Rival cond.: Px</a:t>
                      </a:r>
                      <a:endParaRPr lang="es-ES" sz="1000"/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 b="1"/>
                        <a:t>Rival cond.: P6</a:t>
                      </a:r>
                      <a:endParaRPr lang="es-ES" sz="1000"/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2264249037"/>
                  </a:ext>
                </a:extLst>
              </a:tr>
              <a:tr h="1171322">
                <a:tc>
                  <a:txBody>
                    <a:bodyPr/>
                    <a:lstStyle/>
                    <a:p>
                      <a:r>
                        <a:rPr lang="es-ES" sz="1000" b="1"/>
                        <a:t>Intención rival</a:t>
                      </a:r>
                      <a:endParaRPr lang="es-ES" sz="1000"/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Acción o propósito funcional más relevante del rival condicionante sobre esa jugada o sobre ese jugador: </a:t>
                      </a:r>
                      <a:r>
                        <a:rPr lang="es-ES" sz="1000" b="1"/>
                        <a:t>saltar para robar</a:t>
                      </a:r>
                      <a:r>
                        <a:rPr lang="es-ES" sz="1000"/>
                        <a:t>, </a:t>
                      </a:r>
                      <a:r>
                        <a:rPr lang="es-ES" sz="1000" b="1"/>
                        <a:t>cerrar línea</a:t>
                      </a:r>
                      <a:r>
                        <a:rPr lang="es-ES" sz="1000"/>
                        <a:t>, </a:t>
                      </a:r>
                      <a:r>
                        <a:rPr lang="es-ES" sz="1000" b="1"/>
                        <a:t>proteger intervalo</a:t>
                      </a:r>
                      <a:r>
                        <a:rPr lang="es-ES" sz="1000"/>
                        <a:t>, </a:t>
                      </a:r>
                      <a:r>
                        <a:rPr lang="es-ES" sz="1000" b="1"/>
                        <a:t>temporizar</a:t>
                      </a:r>
                      <a:r>
                        <a:rPr lang="es-ES" sz="1000"/>
                        <a:t>, </a:t>
                      </a:r>
                      <a:r>
                        <a:rPr lang="es-ES" sz="1000" b="1"/>
                        <a:t>perseguir ruptura</a:t>
                      </a:r>
                      <a:r>
                        <a:rPr lang="es-ES" sz="1000"/>
                        <a:t>, etc. No es la amenaza general de la jugada, sino </a:t>
                      </a:r>
                      <a:r>
                        <a:rPr lang="es-ES" sz="1000" b="1"/>
                        <a:t>lo que ese rival quiere hacer</a:t>
                      </a:r>
                      <a:r>
                        <a:rPr lang="es-ES" sz="1000"/>
                        <a:t> y que condiciona tu respuesta.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Ayuda a entender </a:t>
                      </a:r>
                      <a:r>
                        <a:rPr lang="es-ES" sz="1000" b="1"/>
                        <a:t>por qué emerge esa conducta y no otra</a:t>
                      </a:r>
                      <a:r>
                        <a:rPr lang="es-ES" sz="1000"/>
                        <a:t>, y afina mucho el diseño de tareas, ya que permite reproducir la oposición funcional real.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Formato breve, en verbo funcional: </a:t>
                      </a:r>
                      <a:r>
                        <a:rPr lang="es-ES" sz="1000" b="1"/>
                        <a:t>Intención rival: ...</a:t>
                      </a:r>
                      <a:endParaRPr lang="es-ES" sz="1000"/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r>
                        <a:rPr lang="es-ES" sz="1000" b="1" dirty="0"/>
                        <a:t>Intención rival: saltar para robar</a:t>
                      </a:r>
                      <a:endParaRPr lang="es-ES" sz="1000" dirty="0"/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94120954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30542F9E-6531-B2E1-2B86-3E8C8452932B}"/>
              </a:ext>
            </a:extLst>
          </p:cNvPr>
          <p:cNvSpPr txBox="1"/>
          <p:nvPr/>
        </p:nvSpPr>
        <p:spPr>
          <a:xfrm>
            <a:off x="10069974" y="127321"/>
            <a:ext cx="1878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dirty="0"/>
              <a:t>Contexto</a:t>
            </a:r>
          </a:p>
        </p:txBody>
      </p:sp>
    </p:spTree>
    <p:extLst>
      <p:ext uri="{BB962C8B-B14F-4D97-AF65-F5344CB8AC3E}">
        <p14:creationId xmlns:p14="http://schemas.microsoft.com/office/powerpoint/2010/main" val="2810148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D9461B-32C7-5BC1-5D42-6DE84BC39848}"/>
              </a:ext>
            </a:extLst>
          </p:cNvPr>
          <p:cNvSpPr txBox="1"/>
          <p:nvPr/>
        </p:nvSpPr>
        <p:spPr>
          <a:xfrm>
            <a:off x="566057" y="15457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E28A32F-3BD1-8CAE-5C6E-B22784AF5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127312"/>
              </p:ext>
            </p:extLst>
          </p:nvPr>
        </p:nvGraphicFramePr>
        <p:xfrm>
          <a:off x="0" y="1458411"/>
          <a:ext cx="12192000" cy="5399592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551008">
                  <a:extLst>
                    <a:ext uri="{9D8B030D-6E8A-4147-A177-3AD203B41FA5}">
                      <a16:colId xmlns:a16="http://schemas.microsoft.com/office/drawing/2014/main" val="1474039166"/>
                    </a:ext>
                  </a:extLst>
                </a:gridCol>
                <a:gridCol w="2465407">
                  <a:extLst>
                    <a:ext uri="{9D8B030D-6E8A-4147-A177-3AD203B41FA5}">
                      <a16:colId xmlns:a16="http://schemas.microsoft.com/office/drawing/2014/main" val="231484698"/>
                    </a:ext>
                  </a:extLst>
                </a:gridCol>
                <a:gridCol w="2581155">
                  <a:extLst>
                    <a:ext uri="{9D8B030D-6E8A-4147-A177-3AD203B41FA5}">
                      <a16:colId xmlns:a16="http://schemas.microsoft.com/office/drawing/2014/main" val="1604174263"/>
                    </a:ext>
                  </a:extLst>
                </a:gridCol>
                <a:gridCol w="3156030">
                  <a:extLst>
                    <a:ext uri="{9D8B030D-6E8A-4147-A177-3AD203B41FA5}">
                      <a16:colId xmlns:a16="http://schemas.microsoft.com/office/drawing/2014/main" val="29684559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814893872"/>
                    </a:ext>
                  </a:extLst>
                </a:gridCol>
              </a:tblGrid>
              <a:tr h="319503"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Elemento conformador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25748" marR="25748" marT="12874" marB="1287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 dirty="0">
                          <a:solidFill>
                            <a:schemeClr val="bg1"/>
                          </a:solidFill>
                        </a:rPr>
                        <a:t>Qué es</a:t>
                      </a:r>
                      <a:endParaRPr lang="es-ES" sz="1000" dirty="0">
                        <a:solidFill>
                          <a:schemeClr val="bg1"/>
                        </a:solidFill>
                      </a:endParaRPr>
                    </a:p>
                  </a:txBody>
                  <a:tcPr marL="25748" marR="25748" marT="12874" marB="1287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Qué suele explicar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25748" marR="25748" marT="12874" marB="1287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Tipos frecuentes en tus conductas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25748" marR="25748" marT="12874" marB="1287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 dirty="0">
                          <a:solidFill>
                            <a:schemeClr val="bg1"/>
                          </a:solidFill>
                        </a:rPr>
                        <a:t>Ejemplos redactados (formato fijo)</a:t>
                      </a:r>
                      <a:endParaRPr lang="es-ES" sz="1000" dirty="0">
                        <a:solidFill>
                          <a:schemeClr val="bg1"/>
                        </a:solidFill>
                      </a:endParaRPr>
                    </a:p>
                  </a:txBody>
                  <a:tcPr marL="25748" marR="25748" marT="12874" marB="12874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09257"/>
                  </a:ext>
                </a:extLst>
              </a:tr>
              <a:tr h="894607">
                <a:tc>
                  <a:txBody>
                    <a:bodyPr/>
                    <a:lstStyle/>
                    <a:p>
                      <a:r>
                        <a:rPr lang="es-ES" sz="1000" b="1"/>
                        <a:t>Trayectoria</a:t>
                      </a:r>
                      <a:endParaRPr lang="es-ES" sz="10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Camino funcional del jugador, del balón o del rival que condiciona la aparición de la conducta.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Explica </a:t>
                      </a:r>
                      <a:r>
                        <a:rPr lang="es-ES" sz="1000" b="1"/>
                        <a:t>por dónde viaja la acción</a:t>
                      </a:r>
                      <a:r>
                        <a:rPr lang="es-ES" sz="1000"/>
                        <a:t> o </a:t>
                      </a:r>
                      <a:r>
                        <a:rPr lang="es-ES" sz="1000" b="1"/>
                        <a:t>desde dónde llega la amenaza/ventaja</a:t>
                      </a:r>
                      <a:r>
                        <a:rPr lang="es-ES" sz="1000"/>
                        <a:t>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Diagonal corta de ajuste, retorno útil, carrera de protección, curva de cierre, ruptura interior, pase diagonal, balón atrás, pase tenso, rebote/2ª jugada.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 b="1"/>
                        <a:t>Trayectoria:</a:t>
                      </a:r>
                      <a:r>
                        <a:rPr lang="es-ES" sz="1000"/>
                        <a:t> diagonal corta de ajuste / </a:t>
                      </a:r>
                      <a:r>
                        <a:rPr lang="es-ES" sz="1000" b="1"/>
                        <a:t>Trayectoria balón:</a:t>
                      </a:r>
                      <a:r>
                        <a:rPr lang="es-ES" sz="1000"/>
                        <a:t> pase atrás / </a:t>
                      </a:r>
                      <a:r>
                        <a:rPr lang="es-ES" sz="1000" b="1"/>
                        <a:t>Trayectoria rival:</a:t>
                      </a:r>
                      <a:r>
                        <a:rPr lang="es-ES" sz="1000"/>
                        <a:t> ruptura interior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141742491"/>
                  </a:ext>
                </a:extLst>
              </a:tr>
              <a:tr h="798756">
                <a:tc>
                  <a:txBody>
                    <a:bodyPr/>
                    <a:lstStyle/>
                    <a:p>
                      <a:r>
                        <a:rPr lang="es-ES" sz="1000" b="1"/>
                        <a:t>Distancia</a:t>
                      </a:r>
                      <a:endParaRPr lang="es-ES" sz="10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Separación funcional entre jugador, balón, rival, compañero o portería que determina el margen real de intervención.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Explica si llega, si puede temporizar, si debe saltar o solo vigilar.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0–1 pasos (intervención inmediata), 1–3 pasos (ajuste corto), 3–5 pasos (llegada condicionada), 6–9+ (vigilancia, retorno, equilibrio).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 b="1"/>
                        <a:t>Distancia:</a:t>
                      </a:r>
                      <a:r>
                        <a:rPr lang="es-ES" sz="1000"/>
                        <a:t> 1–3 pasos al poseedor / </a:t>
                      </a:r>
                      <a:r>
                        <a:rPr lang="es-ES" sz="1000" b="1"/>
                        <a:t>Distancia:</a:t>
                      </a:r>
                      <a:r>
                        <a:rPr lang="es-ES" sz="1000"/>
                        <a:t> 3–5 pasos al posible receptor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448668308"/>
                  </a:ext>
                </a:extLst>
              </a:tr>
              <a:tr h="894607">
                <a:tc>
                  <a:txBody>
                    <a:bodyPr/>
                    <a:lstStyle/>
                    <a:p>
                      <a:r>
                        <a:rPr lang="es-ES" sz="1000" b="1"/>
                        <a:t>Ubicación</a:t>
                      </a:r>
                      <a:endParaRPr lang="es-ES" sz="10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Lugar funcional que ocupa el jugador respecto a zona, carril, intervalo, portería, receptor o línea de pase.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Explica </a:t>
                      </a:r>
                      <a:r>
                        <a:rPr lang="es-ES" sz="1000" b="1"/>
                        <a:t>desde dónde</a:t>
                      </a:r>
                      <a:r>
                        <a:rPr lang="es-ES" sz="1000"/>
                        <a:t> la conducta tiene valor.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Tapando intervalo interior, protegiendo zona de remate, a espalda del rival, entre balón y receptor, carril interior/exterior, frente a portería, lado fuerte/débil.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 b="1"/>
                        <a:t>Ubicación:</a:t>
                      </a:r>
                      <a:r>
                        <a:rPr lang="es-ES" sz="1000"/>
                        <a:t> entre balón y posible receptor / </a:t>
                      </a:r>
                      <a:r>
                        <a:rPr lang="es-ES" sz="1000" b="1"/>
                        <a:t>Ubicación:</a:t>
                      </a:r>
                      <a:r>
                        <a:rPr lang="es-ES" sz="1000"/>
                        <a:t> tapando intervalo interior / </a:t>
                      </a:r>
                      <a:r>
                        <a:rPr lang="es-ES" sz="1000" b="1"/>
                        <a:t>Ubicación:</a:t>
                      </a:r>
                      <a:r>
                        <a:rPr lang="es-ES" sz="1000"/>
                        <a:t> zona de remate 2º palo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167203036"/>
                  </a:ext>
                </a:extLst>
              </a:tr>
              <a:tr h="798756">
                <a:tc>
                  <a:txBody>
                    <a:bodyPr/>
                    <a:lstStyle/>
                    <a:p>
                      <a:r>
                        <a:rPr lang="es-ES" sz="1000" b="1"/>
                        <a:t>Orientación</a:t>
                      </a:r>
                      <a:endParaRPr lang="es-ES" sz="10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Cómo presenta el cuerpo, la base de apoyo y la atención perceptiva respecto a balón, rival, receptor y portería.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Explica si puede intervenir, temporizar, proteger, jugar o salir con ventaja.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Balón-portería, balón-hombre, medio perfil, perfil abierto, perfil cerrado, orientación alterna, hombro-portería, escaneo previo.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 b="1"/>
                        <a:t>Orientación:</a:t>
                      </a:r>
                      <a:r>
                        <a:rPr lang="es-ES" sz="1000"/>
                        <a:t> balón-portería en medio perfil / </a:t>
                      </a:r>
                      <a:r>
                        <a:rPr lang="es-ES" sz="1000" b="1"/>
                        <a:t>Orientación:</a:t>
                      </a:r>
                      <a:r>
                        <a:rPr lang="es-ES" sz="1000"/>
                        <a:t> alterna balón-hombre / </a:t>
                      </a:r>
                      <a:r>
                        <a:rPr lang="es-ES" sz="1000" b="1"/>
                        <a:t>Orientación:</a:t>
                      </a:r>
                      <a:r>
                        <a:rPr lang="es-ES" sz="1000"/>
                        <a:t> perfil abierto hacia dentro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1940322181"/>
                  </a:ext>
                </a:extLst>
              </a:tr>
              <a:tr h="798756">
                <a:tc>
                  <a:txBody>
                    <a:bodyPr/>
                    <a:lstStyle/>
                    <a:p>
                      <a:r>
                        <a:rPr lang="es-ES" sz="1000" b="1"/>
                        <a:t>Ritmo</a:t>
                      </a:r>
                      <a:endParaRPr lang="es-ES" sz="10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Cadencia temporal de la acción: cuándo ajusta, pausa, acelera, frena o sostiene.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Explica el </a:t>
                      </a:r>
                      <a:r>
                        <a:rPr lang="es-ES" sz="1000" b="1"/>
                        <a:t>timing funcional</a:t>
                      </a:r>
                      <a:r>
                        <a:rPr lang="es-ES" sz="1000"/>
                        <a:t> de la conducta.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Microajustes, pausa activa, llegar-temporizar, sostener-ajustar, acelerar-frenar, esperar para saltar, activación tardía o precoz.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 b="1"/>
                        <a:t>Ritmo:</a:t>
                      </a:r>
                      <a:r>
                        <a:rPr lang="es-ES" sz="1000"/>
                        <a:t> microajustes constantes + pausa activa / </a:t>
                      </a:r>
                      <a:r>
                        <a:rPr lang="es-ES" sz="1000" b="1"/>
                        <a:t>Ritmo:</a:t>
                      </a:r>
                      <a:r>
                        <a:rPr lang="es-ES" sz="1000"/>
                        <a:t> llegar temporizando / </a:t>
                      </a:r>
                      <a:r>
                        <a:rPr lang="es-ES" sz="1000" b="1"/>
                        <a:t>Ritmo:</a:t>
                      </a:r>
                      <a:r>
                        <a:rPr lang="es-ES" sz="1000"/>
                        <a:t> activar tarde para no hundirse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704588288"/>
                  </a:ext>
                </a:extLst>
              </a:tr>
              <a:tr h="894607">
                <a:tc>
                  <a:txBody>
                    <a:bodyPr/>
                    <a:lstStyle/>
                    <a:p>
                      <a:r>
                        <a:rPr lang="es-ES" sz="1000" b="1"/>
                        <a:t>Relación</a:t>
                      </a:r>
                      <a:endParaRPr lang="es-ES" sz="1000"/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Vínculo funcional del jugador con las referencias relevantes de la acción.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Explica </a:t>
                      </a:r>
                      <a:r>
                        <a:rPr lang="es-ES" sz="1000" b="1"/>
                        <a:t>qué conexiones organizan su decisión</a:t>
                      </a:r>
                      <a:r>
                        <a:rPr lang="es-ES" sz="1000"/>
                        <a:t>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Relación con balón y receptor, con marca y portería, con compañero de cobertura, con intervalo, con línea defensiva, con 2º palo, con zona de caída.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r>
                        <a:rPr lang="es-ES" sz="1000" b="1" dirty="0"/>
                        <a:t>Relación:</a:t>
                      </a:r>
                      <a:r>
                        <a:rPr lang="es-ES" sz="1000" dirty="0"/>
                        <a:t> entre balón y posible receptor / </a:t>
                      </a:r>
                      <a:r>
                        <a:rPr lang="es-ES" sz="1000" b="1" dirty="0"/>
                        <a:t>Relación:</a:t>
                      </a:r>
                      <a:r>
                        <a:rPr lang="es-ES" sz="1000" dirty="0"/>
                        <a:t> central-portero para proteger portería / </a:t>
                      </a:r>
                      <a:r>
                        <a:rPr lang="es-ES" sz="1000" b="1" dirty="0"/>
                        <a:t>Relación:</a:t>
                      </a:r>
                      <a:r>
                        <a:rPr lang="es-ES" sz="1000" dirty="0"/>
                        <a:t> compañero-cobertura en lado fuerte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8696085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C5362359-B8CF-0B47-069C-CB474F7E4253}"/>
              </a:ext>
            </a:extLst>
          </p:cNvPr>
          <p:cNvSpPr txBox="1"/>
          <p:nvPr/>
        </p:nvSpPr>
        <p:spPr>
          <a:xfrm>
            <a:off x="6749969" y="210196"/>
            <a:ext cx="5165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dirty="0"/>
              <a:t>Elementos Conformadores</a:t>
            </a:r>
          </a:p>
        </p:txBody>
      </p:sp>
    </p:spTree>
    <p:extLst>
      <p:ext uri="{BB962C8B-B14F-4D97-AF65-F5344CB8AC3E}">
        <p14:creationId xmlns:p14="http://schemas.microsoft.com/office/powerpoint/2010/main" val="341443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D9461B-32C7-5BC1-5D42-6DE84BC39848}"/>
              </a:ext>
            </a:extLst>
          </p:cNvPr>
          <p:cNvSpPr txBox="1"/>
          <p:nvPr/>
        </p:nvSpPr>
        <p:spPr>
          <a:xfrm>
            <a:off x="566057" y="15457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5362359-B8CF-0B47-069C-CB474F7E4253}"/>
              </a:ext>
            </a:extLst>
          </p:cNvPr>
          <p:cNvSpPr txBox="1"/>
          <p:nvPr/>
        </p:nvSpPr>
        <p:spPr>
          <a:xfrm>
            <a:off x="6749969" y="210196"/>
            <a:ext cx="51651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dirty="0"/>
              <a:t>Elementos Conformadores</a:t>
            </a:r>
          </a:p>
          <a:p>
            <a:pPr algn="ctr"/>
            <a:r>
              <a:rPr lang="es-ES" sz="2400" i="1" dirty="0"/>
              <a:t>¿Cómo se organizan?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30E4AF8-CF25-7BB2-9F42-9CEFB903E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226762"/>
              </p:ext>
            </p:extLst>
          </p:nvPr>
        </p:nvGraphicFramePr>
        <p:xfrm>
          <a:off x="0" y="2767229"/>
          <a:ext cx="12191998" cy="435133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104362626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86124889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59852127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166966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4174487266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92262069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199590997"/>
                    </a:ext>
                  </a:extLst>
                </a:gridCol>
              </a:tblGrid>
              <a:tr h="288168">
                <a:tc>
                  <a:txBody>
                    <a:bodyPr/>
                    <a:lstStyle/>
                    <a:p>
                      <a:r>
                        <a:rPr lang="es-ES" sz="1000" b="1" dirty="0">
                          <a:solidFill>
                            <a:schemeClr val="bg1"/>
                          </a:solidFill>
                        </a:rPr>
                        <a:t>Componente</a:t>
                      </a:r>
                      <a:endParaRPr lang="es-ES" sz="1000" dirty="0">
                        <a:solidFill>
                          <a:schemeClr val="bg1"/>
                        </a:solidFill>
                      </a:endParaRPr>
                    </a:p>
                  </a:txBody>
                  <a:tcPr marL="28817" marR="28817" marT="14408" marB="1440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Qué es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28817" marR="28817" marT="14408" marB="1440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Qué pregunta responde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28817" marR="28817" marT="14408" marB="1440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Qué incluye habitualmente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28817" marR="28817" marT="14408" marB="1440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Qué no debe hacer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28817" marR="28817" marT="14408" marB="1440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Cómo se redacta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28817" marR="28817" marT="14408" marB="1440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 dirty="0">
                          <a:solidFill>
                            <a:schemeClr val="bg1"/>
                          </a:solidFill>
                        </a:rPr>
                        <a:t>Ejemplo</a:t>
                      </a:r>
                      <a:endParaRPr lang="es-ES" sz="1000" dirty="0">
                        <a:solidFill>
                          <a:schemeClr val="bg1"/>
                        </a:solidFill>
                      </a:endParaRPr>
                    </a:p>
                  </a:txBody>
                  <a:tcPr marL="28817" marR="28817" marT="14408" marB="14408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938795"/>
                  </a:ext>
                </a:extLst>
              </a:tr>
              <a:tr h="1498474">
                <a:tc>
                  <a:txBody>
                    <a:bodyPr/>
                    <a:lstStyle/>
                    <a:p>
                      <a:r>
                        <a:rPr lang="es-ES" sz="1000" b="1"/>
                        <a:t>D = Demanda del entorno</a:t>
                      </a:r>
                      <a:endParaRPr lang="es-ES" sz="1000"/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Es la </a:t>
                      </a:r>
                      <a:r>
                        <a:rPr lang="es-ES" sz="1000" b="1" dirty="0"/>
                        <a:t>exigencia que el contexto le plantea al jugador</a:t>
                      </a:r>
                      <a:r>
                        <a:rPr lang="es-ES" sz="1000" dirty="0"/>
                        <a:t> en ese instante. Es el problema funcional que debe leer y resolver.</a:t>
                      </a:r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 b="1"/>
                        <a:t>¿Qué me pide o me impone la situación?</a:t>
                      </a:r>
                      <a:endParaRPr lang="es-ES" sz="1000"/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Rival que tapa, salta o temporiza; trayectoria del balón; aparición de una amenaza; distancia de intervención; ubicación del receptor; ritmo de la jugada; relación con portería, intervalo o compañero.</a:t>
                      </a:r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No debe describir todavía la solución del jugador ni explicar cómo la ejecuta.</a:t>
                      </a:r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Frase breve que nombre la exigencia principal del entorno.</a:t>
                      </a:r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 b="1"/>
                        <a:t>D:</a:t>
                      </a:r>
                      <a:r>
                        <a:rPr lang="es-ES" sz="1000"/>
                        <a:t> rival intermedio tapa línea directa al apoyo interior.</a:t>
                      </a:r>
                    </a:p>
                  </a:txBody>
                  <a:tcPr marL="28817" marR="28817" marT="14408" marB="14408" anchor="ctr"/>
                </a:tc>
                <a:extLst>
                  <a:ext uri="{0D108BD9-81ED-4DB2-BD59-A6C34878D82A}">
                    <a16:rowId xmlns:a16="http://schemas.microsoft.com/office/drawing/2014/main" val="1747340260"/>
                  </a:ext>
                </a:extLst>
              </a:tr>
              <a:tr h="1325573">
                <a:tc>
                  <a:txBody>
                    <a:bodyPr/>
                    <a:lstStyle/>
                    <a:p>
                      <a:r>
                        <a:rPr lang="es-ES" sz="1000" b="1"/>
                        <a:t>V = Ventaja que aparece</a:t>
                      </a:r>
                      <a:endParaRPr lang="es-ES" sz="1000"/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Es la </a:t>
                      </a:r>
                      <a:r>
                        <a:rPr lang="es-ES" sz="1000" b="1"/>
                        <a:t>posibilidad funcional que emerge</a:t>
                      </a:r>
                      <a:r>
                        <a:rPr lang="es-ES" sz="1000"/>
                        <a:t> si el jugador percibe bien la situación. Es la oportunidad útil que se abre dentro de esa demanda.</a:t>
                      </a:r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 b="1"/>
                        <a:t>¿Qué ventaja puedo aprovechar aquí?</a:t>
                      </a:r>
                      <a:endParaRPr lang="es-ES" sz="1000"/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Intervalo que se abre, línea de pase útil, tiempo para ajustar, receptor libre, espacio de intervención, posibilidad de anticipar, ayuda disponible, lado débil liberado.</a:t>
                      </a:r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No debe convertirse en la conducta en sí ni en una descripción táctica larga.</a:t>
                      </a:r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Frase breve que nombre la oportunidad funcional principal.</a:t>
                      </a:r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 b="1"/>
                        <a:t>V:</a:t>
                      </a:r>
                      <a:r>
                        <a:rPr lang="es-ES" sz="1000"/>
                        <a:t> aparece intervalo exterior-interior por delante del balón.</a:t>
                      </a:r>
                    </a:p>
                  </a:txBody>
                  <a:tcPr marL="28817" marR="28817" marT="14408" marB="14408" anchor="ctr"/>
                </a:tc>
                <a:extLst>
                  <a:ext uri="{0D108BD9-81ED-4DB2-BD59-A6C34878D82A}">
                    <a16:rowId xmlns:a16="http://schemas.microsoft.com/office/drawing/2014/main" val="2486812363"/>
                  </a:ext>
                </a:extLst>
              </a:tr>
              <a:tr h="1239123">
                <a:tc>
                  <a:txBody>
                    <a:bodyPr/>
                    <a:lstStyle/>
                    <a:p>
                      <a:r>
                        <a:rPr lang="es-ES" sz="1000" b="1"/>
                        <a:t>S = Solución funcional</a:t>
                      </a:r>
                      <a:endParaRPr lang="es-ES" sz="1000"/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Es la </a:t>
                      </a:r>
                      <a:r>
                        <a:rPr lang="es-ES" sz="1000" b="1" dirty="0"/>
                        <a:t>respuesta más adecuada del jugador</a:t>
                      </a:r>
                      <a:r>
                        <a:rPr lang="es-ES" sz="1000" dirty="0"/>
                        <a:t> ante esa demanda y esa ventaja. Expresa la lógica de la conducta elegida.</a:t>
                      </a:r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 b="1"/>
                        <a:t>¿Qué solución funcional conviene dar?</a:t>
                      </a:r>
                      <a:endParaRPr lang="es-ES" sz="1000"/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Apoyo útil, desmarque corto, cierre interior, temporización, salto curvo, protección de zona de remate, vigilancia activa, fijación, cobertura, ruptura.</a:t>
                      </a:r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No debe entrar en detalles de ejecución corporal fina; eso pertenece al </a:t>
                      </a:r>
                      <a:r>
                        <a:rPr lang="es-ES" sz="1000" b="1"/>
                        <a:t>RTI</a:t>
                      </a:r>
                      <a:r>
                        <a:rPr lang="es-ES" sz="1000"/>
                        <a:t>.</a:t>
                      </a:r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Frase breve, funcional y entrenable.</a:t>
                      </a:r>
                    </a:p>
                  </a:txBody>
                  <a:tcPr marL="28817" marR="28817" marT="14408" marB="14408" anchor="ctr"/>
                </a:tc>
                <a:tc>
                  <a:txBody>
                    <a:bodyPr/>
                    <a:lstStyle/>
                    <a:p>
                      <a:r>
                        <a:rPr lang="es-ES" sz="1000" b="1" dirty="0"/>
                        <a:t>S:</a:t>
                      </a:r>
                      <a:r>
                        <a:rPr lang="es-ES" sz="1000" dirty="0"/>
                        <a:t> desmarque corto de ajuste para ofrecer línea útil.</a:t>
                      </a:r>
                    </a:p>
                  </a:txBody>
                  <a:tcPr marL="28817" marR="28817" marT="14408" marB="14408" anchor="ctr"/>
                </a:tc>
                <a:extLst>
                  <a:ext uri="{0D108BD9-81ED-4DB2-BD59-A6C34878D82A}">
                    <a16:rowId xmlns:a16="http://schemas.microsoft.com/office/drawing/2014/main" val="3499228610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06B1CCC-EBEF-96C4-6A51-E6620D23A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508656"/>
              </p:ext>
            </p:extLst>
          </p:nvPr>
        </p:nvGraphicFramePr>
        <p:xfrm>
          <a:off x="750788" y="1487257"/>
          <a:ext cx="10152564" cy="10972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667256">
                  <a:extLst>
                    <a:ext uri="{9D8B030D-6E8A-4147-A177-3AD203B41FA5}">
                      <a16:colId xmlns:a16="http://schemas.microsoft.com/office/drawing/2014/main" val="4118692507"/>
                    </a:ext>
                  </a:extLst>
                </a:gridCol>
                <a:gridCol w="4742654">
                  <a:extLst>
                    <a:ext uri="{9D8B030D-6E8A-4147-A177-3AD203B41FA5}">
                      <a16:colId xmlns:a16="http://schemas.microsoft.com/office/drawing/2014/main" val="4153486325"/>
                    </a:ext>
                  </a:extLst>
                </a:gridCol>
                <a:gridCol w="4742654">
                  <a:extLst>
                    <a:ext uri="{9D8B030D-6E8A-4147-A177-3AD203B41FA5}">
                      <a16:colId xmlns:a16="http://schemas.microsoft.com/office/drawing/2014/main" val="16544036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bg1"/>
                          </a:solidFill>
                        </a:rPr>
                        <a:t>Parte</a:t>
                      </a:r>
                      <a:endParaRPr lang="es-E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bg1"/>
                          </a:solidFill>
                        </a:rPr>
                        <a:t>Función dentro de la lectura</a:t>
                      </a:r>
                      <a:endParaRPr lang="es-E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>
                          <a:solidFill>
                            <a:schemeClr val="bg1"/>
                          </a:solidFill>
                        </a:rPr>
                        <a:t>Regla simple</a:t>
                      </a:r>
                      <a:endParaRPr lang="es-E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779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1200" b="1"/>
                        <a:t>D</a:t>
                      </a:r>
                      <a:endParaRPr lang="es-E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Define el </a:t>
                      </a:r>
                      <a:r>
                        <a:rPr lang="es-ES" sz="1200" b="1" dirty="0"/>
                        <a:t>problema</a:t>
                      </a:r>
                      <a:r>
                        <a:rPr lang="es-ES" sz="1200" dirty="0"/>
                        <a:t> que el entorno presenta.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Nombra la </a:t>
                      </a:r>
                      <a:r>
                        <a:rPr lang="es-ES" sz="1200" b="1" dirty="0"/>
                        <a:t>presión o condicionante principal</a:t>
                      </a:r>
                      <a:r>
                        <a:rPr lang="es-ES" sz="1200" dirty="0"/>
                        <a:t> del entorno.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958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1200" b="1"/>
                        <a:t>V</a:t>
                      </a:r>
                      <a:endParaRPr lang="es-E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Define la </a:t>
                      </a:r>
                      <a:r>
                        <a:rPr lang="es-ES" sz="1200" b="1" dirty="0"/>
                        <a:t>oportunidad</a:t>
                      </a:r>
                      <a:r>
                        <a:rPr lang="es-ES" sz="1200" dirty="0"/>
                        <a:t> que aparece dentro de ese problema.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/>
                        <a:t>Nombra la </a:t>
                      </a:r>
                      <a:r>
                        <a:rPr lang="es-ES" sz="1200" b="1"/>
                        <a:t>oportunidad funcional</a:t>
                      </a:r>
                      <a:r>
                        <a:rPr lang="es-ES" sz="1200"/>
                        <a:t> que emerge.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644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S</a:t>
                      </a:r>
                      <a:endParaRPr lang="es-E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Define la </a:t>
                      </a:r>
                      <a:r>
                        <a:rPr lang="es-ES" sz="1200" b="1" dirty="0"/>
                        <a:t>respuesta funcional</a:t>
                      </a:r>
                      <a:r>
                        <a:rPr lang="es-ES" sz="1200" dirty="0"/>
                        <a:t> que resuelve mejor la situación.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Nombra la </a:t>
                      </a:r>
                      <a:r>
                        <a:rPr lang="es-ES" sz="1200" b="1" dirty="0"/>
                        <a:t>respuesta útil del jugador</a:t>
                      </a:r>
                      <a:r>
                        <a:rPr lang="es-ES" sz="12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148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069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9D9461B-32C7-5BC1-5D42-6DE84BC39848}"/>
              </a:ext>
            </a:extLst>
          </p:cNvPr>
          <p:cNvSpPr txBox="1"/>
          <p:nvPr/>
        </p:nvSpPr>
        <p:spPr>
          <a:xfrm>
            <a:off x="566057" y="15457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EAC4EF4-5AD9-1371-A274-964C326E2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412402"/>
              </p:ext>
            </p:extLst>
          </p:nvPr>
        </p:nvGraphicFramePr>
        <p:xfrm>
          <a:off x="0" y="2506662"/>
          <a:ext cx="12192000" cy="435133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417028391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14560406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65662899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8567679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4411651"/>
                    </a:ext>
                  </a:extLst>
                </a:gridCol>
              </a:tblGrid>
              <a:tr h="183490">
                <a:tc>
                  <a:txBody>
                    <a:bodyPr/>
                    <a:lstStyle/>
                    <a:p>
                      <a:r>
                        <a:rPr lang="es-ES" sz="1000" b="1" dirty="0">
                          <a:solidFill>
                            <a:schemeClr val="bg1"/>
                          </a:solidFill>
                        </a:rPr>
                        <a:t>Tipo de RTCI</a:t>
                      </a:r>
                      <a:endParaRPr lang="es-ES" sz="1000" dirty="0">
                        <a:solidFill>
                          <a:schemeClr val="bg1"/>
                        </a:solidFill>
                      </a:endParaRPr>
                    </a:p>
                  </a:txBody>
                  <a:tcPr marL="26213" marR="26213" marT="13106" marB="13106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Cuándo aplica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26213" marR="26213" marT="13106" marB="13106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Qué incluye (qué describimos)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26213" marR="26213" marT="13106" marB="13106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>
                          <a:solidFill>
                            <a:schemeClr val="bg1"/>
                          </a:solidFill>
                        </a:rPr>
                        <a:t>Checklist corto y útil</a:t>
                      </a:r>
                      <a:endParaRPr lang="es-ES" sz="1000">
                        <a:solidFill>
                          <a:schemeClr val="bg1"/>
                        </a:solidFill>
                      </a:endParaRPr>
                    </a:p>
                  </a:txBody>
                  <a:tcPr marL="26213" marR="26213" marT="13106" marB="13106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 b="1" dirty="0">
                          <a:solidFill>
                            <a:schemeClr val="bg1"/>
                          </a:solidFill>
                        </a:rPr>
                        <a:t>Ejemplo aplicable</a:t>
                      </a:r>
                      <a:endParaRPr lang="es-ES" sz="1000" dirty="0">
                        <a:solidFill>
                          <a:schemeClr val="bg1"/>
                        </a:solidFill>
                      </a:endParaRPr>
                    </a:p>
                  </a:txBody>
                  <a:tcPr marL="26213" marR="26213" marT="13106" marB="13106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223506"/>
                  </a:ext>
                </a:extLst>
              </a:tr>
              <a:tr h="1127154">
                <a:tc>
                  <a:txBody>
                    <a:bodyPr/>
                    <a:lstStyle/>
                    <a:p>
                      <a:r>
                        <a:rPr lang="es-ES" sz="1000" b="1" dirty="0"/>
                        <a:t>Con intervención directa sobre balón</a:t>
                      </a:r>
                      <a:endParaRPr lang="es-ES" sz="1000" dirty="0"/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Cuando el jugador </a:t>
                      </a:r>
                      <a:r>
                        <a:rPr lang="es-ES" sz="1000" b="1"/>
                        <a:t>interviene directamente con balón</a:t>
                      </a:r>
                      <a:r>
                        <a:rPr lang="es-ES" sz="1000"/>
                        <a:t>: controla, conduce, pasa, protege, gira, regatea, remata o finaliza.</a:t>
                      </a:r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Criterios </a:t>
                      </a:r>
                      <a:r>
                        <a:rPr lang="es-ES" sz="1000" b="1"/>
                        <a:t>técnico-coordinativos</a:t>
                      </a:r>
                      <a:r>
                        <a:rPr lang="es-ES" sz="1000"/>
                        <a:t> de la acción con balón: perfil corporal, pie de apoyo, superficie de contacto, orientación corporal, timing de ejecución, escaneo previo, ajuste de distancia al balón, tensión/limpieza del gesto y continuidad posterior.</a:t>
                      </a:r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1) </a:t>
                      </a:r>
                      <a:r>
                        <a:rPr lang="es-ES" sz="1000" b="1"/>
                        <a:t>Escaneo previo</a:t>
                      </a:r>
                      <a:r>
                        <a:rPr lang="es-ES" sz="1000"/>
                        <a:t> 2) </a:t>
                      </a:r>
                      <a:r>
                        <a:rPr lang="es-ES" sz="1000" b="1"/>
                        <a:t>Perfil corporal</a:t>
                      </a:r>
                      <a:r>
                        <a:rPr lang="es-ES" sz="1000"/>
                        <a:t> 3) </a:t>
                      </a:r>
                      <a:r>
                        <a:rPr lang="es-ES" sz="1000" b="1"/>
                        <a:t>Pie de apoyo</a:t>
                      </a:r>
                      <a:r>
                        <a:rPr lang="es-ES" sz="1000"/>
                        <a:t> 4) </a:t>
                      </a:r>
                      <a:r>
                        <a:rPr lang="es-ES" sz="1000" b="1"/>
                        <a:t>Superficie de contacto</a:t>
                      </a:r>
                      <a:r>
                        <a:rPr lang="es-ES" sz="1000"/>
                        <a:t> 5) </a:t>
                      </a:r>
                      <a:r>
                        <a:rPr lang="es-ES" sz="1000" b="1"/>
                        <a:t>Dirección/intención del gesto</a:t>
                      </a:r>
                      <a:r>
                        <a:rPr lang="es-ES" sz="1000"/>
                        <a:t> 6) </a:t>
                      </a:r>
                      <a:r>
                        <a:rPr lang="es-ES" sz="1000" b="1"/>
                        <a:t>Calidad del contacto</a:t>
                      </a:r>
                      <a:r>
                        <a:rPr lang="es-ES" sz="1000"/>
                        <a:t> 7) </a:t>
                      </a:r>
                      <a:r>
                        <a:rPr lang="es-ES" sz="1000" b="1"/>
                        <a:t>Timing</a:t>
                      </a:r>
                      <a:r>
                        <a:rPr lang="es-ES" sz="1000"/>
                        <a:t> 8) </a:t>
                      </a:r>
                      <a:r>
                        <a:rPr lang="es-ES" sz="1000" b="1"/>
                        <a:t>Continuidad tras la acción</a:t>
                      </a:r>
                      <a:endParaRPr lang="es-ES" sz="1000"/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“Escaneo previo + perfil semiabierto + pie de apoyo orientado + pase tenso raso al pie útil + timing antes del salto rival”</a:t>
                      </a:r>
                    </a:p>
                  </a:txBody>
                  <a:tcPr marL="26213" marR="26213" marT="13106" marB="13106" anchor="ctr"/>
                </a:tc>
                <a:extLst>
                  <a:ext uri="{0D108BD9-81ED-4DB2-BD59-A6C34878D82A}">
                    <a16:rowId xmlns:a16="http://schemas.microsoft.com/office/drawing/2014/main" val="2512046765"/>
                  </a:ext>
                </a:extLst>
              </a:tr>
              <a:tr h="1520347">
                <a:tc>
                  <a:txBody>
                    <a:bodyPr/>
                    <a:lstStyle/>
                    <a:p>
                      <a:r>
                        <a:rPr lang="es-ES" sz="1000" b="1" dirty="0"/>
                        <a:t>Sin intervención directa con balón (equipo poseedor)</a:t>
                      </a:r>
                      <a:endParaRPr lang="es-ES" sz="1000" dirty="0"/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Cuando el equipo tiene balón pero el jugador </a:t>
                      </a:r>
                      <a:r>
                        <a:rPr lang="es-ES" sz="1000" b="1" dirty="0"/>
                        <a:t>no lo toca en ese instante</a:t>
                      </a:r>
                      <a:r>
                        <a:rPr lang="es-ES" sz="1000" dirty="0"/>
                        <a:t>: apoyo, fijación, desmarque, compensación, arrastre, ocupación útil, receptor potencial.</a:t>
                      </a:r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Criterios </a:t>
                      </a:r>
                      <a:r>
                        <a:rPr lang="es-ES" sz="1000" b="1"/>
                        <a:t>coordinativo-motrices</a:t>
                      </a:r>
                      <a:r>
                        <a:rPr lang="es-ES" sz="1000"/>
                        <a:t> para hacerse útil sin balón: orientación corporal, microajustes, timing de aparición, distancia de relación, maniobra ofensiva (cutting, giro, arranque, pausa), frenada previa, reapoyo orientado, aceleración/reaceleración, disponibilidad para la siguiente acción.</a:t>
                      </a:r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1) </a:t>
                      </a:r>
                      <a:r>
                        <a:rPr lang="es-ES" sz="1000" b="1"/>
                        <a:t>Orientación corporal útil</a:t>
                      </a:r>
                      <a:r>
                        <a:rPr lang="es-ES" sz="1000"/>
                        <a:t> 2) </a:t>
                      </a:r>
                      <a:r>
                        <a:rPr lang="es-ES" sz="1000" b="1"/>
                        <a:t>Distancia de relación</a:t>
                      </a:r>
                      <a:r>
                        <a:rPr lang="es-ES" sz="1000"/>
                        <a:t> 3) </a:t>
                      </a:r>
                      <a:r>
                        <a:rPr lang="es-ES" sz="1000" b="1"/>
                        <a:t>Timing de aparición</a:t>
                      </a:r>
                      <a:r>
                        <a:rPr lang="es-ES" sz="1000"/>
                        <a:t> 4) </a:t>
                      </a:r>
                      <a:r>
                        <a:rPr lang="es-ES" sz="1000" b="1"/>
                        <a:t>Cambio de ritmo</a:t>
                      </a:r>
                      <a:r>
                        <a:rPr lang="es-ES" sz="1000"/>
                        <a:t> 5) </a:t>
                      </a:r>
                      <a:r>
                        <a:rPr lang="es-ES" sz="1000" b="1"/>
                        <a:t>Maniobra ofensiva</a:t>
                      </a:r>
                      <a:r>
                        <a:rPr lang="es-ES" sz="1000"/>
                        <a:t> 6) </a:t>
                      </a:r>
                      <a:r>
                        <a:rPr lang="es-ES" sz="1000" b="1"/>
                        <a:t>Frenada previa si aplica</a:t>
                      </a:r>
                      <a:r>
                        <a:rPr lang="es-ES" sz="1000"/>
                        <a:t> 7) </a:t>
                      </a:r>
                      <a:r>
                        <a:rPr lang="es-ES" sz="1000" b="1"/>
                        <a:t>Reapoyo orientado</a:t>
                      </a:r>
                      <a:r>
                        <a:rPr lang="es-ES" sz="1000"/>
                        <a:t> 8) </a:t>
                      </a:r>
                      <a:r>
                        <a:rPr lang="es-ES" sz="1000" b="1"/>
                        <a:t>Preparado para intervenir</a:t>
                      </a:r>
                      <a:endParaRPr lang="es-ES" sz="1000"/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“Pausa útil + microajuste corto + cutting para salir de sombra + frenada breve + perfil abierto listo para recibir o fijar”</a:t>
                      </a:r>
                    </a:p>
                  </a:txBody>
                  <a:tcPr marL="26213" marR="26213" marT="13106" marB="13106" anchor="ctr"/>
                </a:tc>
                <a:extLst>
                  <a:ext uri="{0D108BD9-81ED-4DB2-BD59-A6C34878D82A}">
                    <a16:rowId xmlns:a16="http://schemas.microsoft.com/office/drawing/2014/main" val="993743734"/>
                  </a:ext>
                </a:extLst>
              </a:tr>
              <a:tr h="1520347">
                <a:tc>
                  <a:txBody>
                    <a:bodyPr/>
                    <a:lstStyle/>
                    <a:p>
                      <a:r>
                        <a:rPr lang="es-ES" sz="1000" b="1" dirty="0"/>
                        <a:t>Sin intervención directa con balón (equipo no poseedor)</a:t>
                      </a:r>
                      <a:endParaRPr lang="es-ES" sz="1000" dirty="0"/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Cuando el rival tiene balón y el jugador actúa sin balón: temporiza, salta, protege, persigue, cierra línea, orienta, vigila, intercepta, reubica o sostiene.</a:t>
                      </a:r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Criterios </a:t>
                      </a:r>
                      <a:r>
                        <a:rPr lang="es-ES" sz="1000" b="1"/>
                        <a:t>coordinativo-motrices defensivos</a:t>
                      </a:r>
                      <a:r>
                        <a:rPr lang="es-ES" sz="1000"/>
                        <a:t>: postura, base, perfil, orientación balón-hombre-portería, distancia de intervención, timing del salto o de la contención, frenada, reapoyos, aplicación de fuerzas, maniobras multidireccionales (shuffle, crossover, drop step, hip turn), reaceleración y reorientación.</a:t>
                      </a:r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r>
                        <a:rPr lang="es-ES" sz="1000"/>
                        <a:t>1) </a:t>
                      </a:r>
                      <a:r>
                        <a:rPr lang="es-ES" sz="1000" b="1"/>
                        <a:t>Postura/base</a:t>
                      </a:r>
                      <a:r>
                        <a:rPr lang="es-ES" sz="1000"/>
                        <a:t> 2) </a:t>
                      </a:r>
                      <a:r>
                        <a:rPr lang="es-ES" sz="1000" b="1"/>
                        <a:t>Perfil corporal</a:t>
                      </a:r>
                      <a:r>
                        <a:rPr lang="es-ES" sz="1000"/>
                        <a:t> 3) </a:t>
                      </a:r>
                      <a:r>
                        <a:rPr lang="es-ES" sz="1000" b="1"/>
                        <a:t>Orientación perceptiva</a:t>
                      </a:r>
                      <a:r>
                        <a:rPr lang="es-ES" sz="1000"/>
                        <a:t> 4) </a:t>
                      </a:r>
                      <a:r>
                        <a:rPr lang="es-ES" sz="1000" b="1"/>
                        <a:t>Distancia de intervención</a:t>
                      </a:r>
                      <a:r>
                        <a:rPr lang="es-ES" sz="1000"/>
                        <a:t> 5) </a:t>
                      </a:r>
                      <a:r>
                        <a:rPr lang="es-ES" sz="1000" b="1"/>
                        <a:t>Timing de activación</a:t>
                      </a:r>
                      <a:r>
                        <a:rPr lang="es-ES" sz="1000"/>
                        <a:t> 6) </a:t>
                      </a:r>
                      <a:r>
                        <a:rPr lang="es-ES" sz="1000" b="1"/>
                        <a:t>Frenada/reapoyo</a:t>
                      </a:r>
                      <a:r>
                        <a:rPr lang="es-ES" sz="1000"/>
                        <a:t> 7) </a:t>
                      </a:r>
                      <a:r>
                        <a:rPr lang="es-ES" sz="1000" b="1"/>
                        <a:t>Maniobra defensiva</a:t>
                      </a:r>
                      <a:r>
                        <a:rPr lang="es-ES" sz="1000"/>
                        <a:t> 8) </a:t>
                      </a:r>
                      <a:r>
                        <a:rPr lang="es-ES" sz="1000" b="1"/>
                        <a:t>Reaceleración/reorientación</a:t>
                      </a:r>
                      <a:endParaRPr lang="es-ES" sz="1000"/>
                    </a:p>
                  </a:txBody>
                  <a:tcPr marL="26213" marR="26213" marT="13106" marB="13106" anchor="ctr"/>
                </a:tc>
                <a:tc>
                  <a:txBody>
                    <a:bodyPr/>
                    <a:lstStyle/>
                    <a:p>
                      <a:r>
                        <a:rPr lang="es-ES" sz="1000" dirty="0"/>
                        <a:t>“CG medio-bajo + base estable + orientación balón-hombre + </a:t>
                      </a:r>
                      <a:r>
                        <a:rPr lang="es-ES" sz="1000" dirty="0" err="1"/>
                        <a:t>microajustes</a:t>
                      </a:r>
                      <a:r>
                        <a:rPr lang="es-ES" sz="1000" dirty="0"/>
                        <a:t> sin hundirse + hip </a:t>
                      </a:r>
                      <a:r>
                        <a:rPr lang="es-ES" sz="1000" dirty="0" err="1"/>
                        <a:t>turn</a:t>
                      </a:r>
                      <a:r>
                        <a:rPr lang="es-ES" sz="1000" dirty="0"/>
                        <a:t> para proteger espalda + </a:t>
                      </a:r>
                      <a:r>
                        <a:rPr lang="es-ES" sz="1000" dirty="0" err="1"/>
                        <a:t>reapoyo</a:t>
                      </a:r>
                      <a:r>
                        <a:rPr lang="es-ES" sz="1000" dirty="0"/>
                        <a:t> y </a:t>
                      </a:r>
                      <a:r>
                        <a:rPr lang="es-ES" sz="1000" dirty="0" err="1"/>
                        <a:t>reaceleración</a:t>
                      </a:r>
                      <a:r>
                        <a:rPr lang="es-ES" sz="1000" dirty="0"/>
                        <a:t> corta”</a:t>
                      </a:r>
                    </a:p>
                  </a:txBody>
                  <a:tcPr marL="26213" marR="26213" marT="13106" marB="13106" anchor="ctr"/>
                </a:tc>
                <a:extLst>
                  <a:ext uri="{0D108BD9-81ED-4DB2-BD59-A6C34878D82A}">
                    <a16:rowId xmlns:a16="http://schemas.microsoft.com/office/drawing/2014/main" val="1003751777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0D0BD2C7-E5C6-3CA1-DFCB-C70D46C5C1CB}"/>
              </a:ext>
            </a:extLst>
          </p:cNvPr>
          <p:cNvSpPr txBox="1"/>
          <p:nvPr/>
        </p:nvSpPr>
        <p:spPr>
          <a:xfrm>
            <a:off x="3671103" y="314368"/>
            <a:ext cx="84188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dirty="0"/>
              <a:t>Recursos Técnico-Coordinativos Individuales</a:t>
            </a:r>
          </a:p>
        </p:txBody>
      </p:sp>
    </p:spTree>
    <p:extLst>
      <p:ext uri="{BB962C8B-B14F-4D97-AF65-F5344CB8AC3E}">
        <p14:creationId xmlns:p14="http://schemas.microsoft.com/office/powerpoint/2010/main" val="32153206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8369</TotalTime>
  <Words>4598</Words>
  <Application>Microsoft Macintosh PowerPoint</Application>
  <PresentationFormat>Panorámica</PresentationFormat>
  <Paragraphs>327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JAVIER NAVARRO BALLESTER</dc:creator>
  <cp:lastModifiedBy>FRANCISCO JAVIER NAVARRO BALLESTER</cp:lastModifiedBy>
  <cp:revision>19</cp:revision>
  <dcterms:created xsi:type="dcterms:W3CDTF">2026-01-29T11:55:43Z</dcterms:created>
  <dcterms:modified xsi:type="dcterms:W3CDTF">2026-03-25T10:24:14Z</dcterms:modified>
</cp:coreProperties>
</file>